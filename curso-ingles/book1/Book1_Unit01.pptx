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 1 · Unit 1. Receba o aluno com um sorriso: 'Hello! Welcome!'. Mostre os personagens (Tom, Ana e Yuki), que aparecem ao longo da unidade. Tempo total: cerca de 135 minutos (pode ser dividido em 2 aulas).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o aluno em português. No fim da unidade ele volta a esta página e marca o que já consegue fazer. Todas as unidades seguem a mesma ordem de seções.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 → b · 2 → d · 3 → a · 4 → c. Peça que o aluno leia cada cumprimento em voz alta. 'Good night' é usado só ao se despedir, antes de dormir.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Toque o áudio 1.1 (ou leia em voz alta) duas vezes. 1ª vez: só ouvir. 2ª vez: repetir cada fala. Depois o aluno lê como Ana e você como Tom, e trocam os papéis. Script completo no fim da apostila.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A) 1 F · 2 T · 3 T · 4 F. B) 1 He's a teacher. · 2 She's from São Paulo (Brazil). · 3 No, he isn't. He's from Canada. (O 'he/she' ainda não foi ensinado: aceite 'Teacher.' e 'São Paulo.' como resposta curta.)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Tom · Yuki · Ana. Depois peça ao aluno que 'seja' um dos personagens e leia o texto na 1ª pessoa (I'm…).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Drill: leia cada expressão e o aluno repete. Depois cubra a coluna em português e peça a tradução. 'Good evening' é para cumprimentar ao chegar à noite; 'Good night' só ao se despedir.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em inglês, países e nacionalidades levam letra maiúscula (Brazil, Brazilian). Peça que o aluno diga o próprio país e nacionalidade: 'I'm from Brazil. I'm Brazilian.'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 doctor · 2 teacher · 3 engineer · 4 student. Depois o aluno diz a própria profissão: 'I'm a ...'. Se não souber, ensine a palavra e anote no Live Language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pronúncia ao lado é uma aproximação em português; use o áudio 1.6. Em inglês, 'A' soa 'êi' e 'E' soa 'i'. Atividade: o aluno soletra o nome, o sobrenome e o e-mail ('at' = @, 'dot' = 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com o português: 'Sou Ana' esconde o sujeito no verbo; em inglês, I e you são obrigatórios. Drill: diga 'I' e o aluno completa 'am…'; diga 'you' e ele completa 'are…'.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'I amn't' não existe: use sempre 'I'm not'. Com 'you', as duas formas são corretas: 'You aren't' ou 'You're not'. Drill de perguntas rápidas: 'Are you a teacher?' — o aluno responde só 'Yes, I am.' ou 'No, I'm not.'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mais comuns de brasileiros nesta unidade. Peça que o aluno leia a versão errada e corrija em voz alta antes de revelar a 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 am · 2 are · 3 Are · 4 am · 5 'm not · 6 aren't.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B) My name is Ana. / Are you Brazilian? / I'm from Canada. / Nice to meet you. C) Are you a student? / I'm not a doctor. / Are you from Japan? / You aren't (You're not) 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Áudio 1.7: veja o script no fim da apostila (Carlos, Emma e Yuki se apresentam e soletram o nome). Gabarito: 1 Carlos, Brazil · 2 Emma, England · 3 Yuki, Japan. Greetings: 1 Good evening · 2 Hi · 3 See you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 b · 2 b · 3 a · 4 c · 5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o aluno praticar 2 vezes: com as frases à vista e, depois, sem olhar. Corrija só os erros que atrapalham a comunicação. Se o aluno estiver sozinho, o professor faz o papel do colega. Self-check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aluno escreve à mão ou digita e depois lê o cartão em voz alta. Incentive-o a acrescentar mais uma informação (cidade, idade).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o aluno marque ✓ (consigo), ~ (mais ou menos) ou ✗ (ainda não). Para os itens com ~ ou ✗, sugira rever a seção correspondente. Tarefa: gravar um áudio de 30 segundos se apresentando.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completo da 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para o professor gravar ou ler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ENGLISH SKYROCKET  ·  BOOK 1  ·  A1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ENGLISH SKYROCKET  ·  BOOK 1  ·  LEVEL A1</a:t>
            </a:r>
            <a:endParaRPr lang="en-US" sz="1100" dirty="0"/>
          </a:p>
        </p:txBody>
      </p:sp>
      <p:sp>
        <p:nvSpPr>
          <p:cNvPr id="3" name="Unit number tile"/>
          <p:cNvSpPr/>
          <p:nvPr/>
        </p:nvSpPr>
        <p:spPr>
          <a:xfrm>
            <a:off x="548640" y="123444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463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Hello! Nice to meet you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Cumprimentar e se apresentar</a:t>
            </a:r>
            <a:endParaRPr lang="en-US" sz="1800" dirty="0"/>
          </a:p>
        </p:txBody>
      </p:sp>
      <p:sp>
        <p:nvSpPr>
          <p:cNvPr id="8" name="Pill"/>
          <p:cNvSpPr/>
          <p:nvPr/>
        </p:nvSpPr>
        <p:spPr>
          <a:xfrm>
            <a:off x="548640" y="333756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37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 · countries · jobs · alphabet</a:t>
            </a:r>
            <a:endParaRPr lang="en-US" sz="1400" dirty="0"/>
          </a:p>
        </p:txBody>
      </p:sp>
      <p:sp>
        <p:nvSpPr>
          <p:cNvPr id="11" name="Pill"/>
          <p:cNvSpPr/>
          <p:nvPr/>
        </p:nvSpPr>
        <p:spPr>
          <a:xfrm>
            <a:off x="548640" y="372160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21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721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to be (I / you)</a:t>
            </a:r>
            <a:endParaRPr lang="en-US" sz="1400" dirty="0"/>
          </a:p>
        </p:txBody>
      </p:sp>
      <p:sp>
        <p:nvSpPr>
          <p:cNvPr id="14" name="Pill"/>
          <p:cNvSpPr/>
          <p:nvPr/>
        </p:nvSpPr>
        <p:spPr>
          <a:xfrm>
            <a:off x="548640" y="4105656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056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105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· reading · listening · speaking · writing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RAUL PIVOTO</a:t>
            </a:r>
            <a:endParaRPr lang="en-US" sz="1000" dirty="0"/>
          </a:p>
        </p:txBody>
      </p:sp>
      <p:sp>
        <p:nvSpPr>
          <p:cNvPr id="18" name="Illustration panel"/>
          <p:cNvSpPr/>
          <p:nvPr/>
        </p:nvSpPr>
        <p:spPr>
          <a:xfrm>
            <a:off x="6035040" y="365760"/>
            <a:ext cx="2651760" cy="4434840"/>
          </a:xfrm>
          <a:prstGeom prst="roundRect">
            <a:avLst>
              <a:gd name="adj" fmla="val 689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9" name="Image 0" descr="T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640080"/>
            <a:ext cx="1188720" cy="1188720"/>
          </a:xfrm>
          <a:prstGeom prst="rect">
            <a:avLst/>
          </a:prstGeom>
        </p:spPr>
      </p:pic>
      <p:sp>
        <p:nvSpPr>
          <p:cNvPr id="20" name="Pill"/>
          <p:cNvSpPr/>
          <p:nvPr/>
        </p:nvSpPr>
        <p:spPr>
          <a:xfrm>
            <a:off x="7406640" y="77724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0664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</a:t>
            </a:r>
            <a:endParaRPr lang="en-US" sz="1600" dirty="0"/>
          </a:p>
        </p:txBody>
      </p:sp>
      <p:pic>
        <p:nvPicPr>
          <p:cNvPr id="22" name="Image 1" descr="A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331720"/>
            <a:ext cx="1188720" cy="1188720"/>
          </a:xfrm>
          <a:prstGeom prst="rect">
            <a:avLst/>
          </a:prstGeom>
        </p:spPr>
      </p:pic>
      <p:sp>
        <p:nvSpPr>
          <p:cNvPr id="23" name="Pill"/>
          <p:cNvSpPr/>
          <p:nvPr/>
        </p:nvSpPr>
        <p:spPr>
          <a:xfrm>
            <a:off x="6217920" y="2560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217920" y="2560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Tom!</a:t>
            </a:r>
            <a:endParaRPr lang="en-US" sz="1600" dirty="0"/>
          </a:p>
        </p:txBody>
      </p:sp>
      <p:pic>
        <p:nvPicPr>
          <p:cNvPr id="25" name="Image 2" descr="Yuk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657600"/>
            <a:ext cx="914400" cy="914400"/>
          </a:xfrm>
          <a:prstGeom prst="rect">
            <a:avLst/>
          </a:prstGeom>
        </p:spPr>
      </p:pic>
      <p:sp>
        <p:nvSpPr>
          <p:cNvPr id="26" name="Pill"/>
          <p:cNvSpPr/>
          <p:nvPr/>
        </p:nvSpPr>
        <p:spPr>
          <a:xfrm>
            <a:off x="7315200" y="38404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31520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Yuki.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this unit, I can…</a:t>
            </a:r>
            <a:endParaRPr lang="en-US" sz="3000" dirty="0"/>
          </a:p>
        </p:txBody>
      </p:sp>
      <p:sp>
        <p:nvSpPr>
          <p:cNvPr id="7" name="Box"/>
          <p:cNvSpPr/>
          <p:nvPr/>
        </p:nvSpPr>
        <p:spPr>
          <a:xfrm>
            <a:off x="457200" y="12801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Greet peo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56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Greet people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1874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</a:t>
            </a:r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</a:t>
            </a:r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hora certa</a:t>
            </a:r>
            <a:endParaRPr lang="en-US" sz="1400" dirty="0"/>
          </a:p>
        </p:txBody>
      </p:sp>
      <p:sp>
        <p:nvSpPr>
          <p:cNvPr id="12" name="Box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Introduce mysel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556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71500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Introduce myself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0" y="1874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meu nome e perguntar o nome de alguém</a:t>
            </a:r>
            <a:endParaRPr lang="en-US" sz="1400" dirty="0"/>
          </a:p>
        </p:txBody>
      </p:sp>
      <p:sp>
        <p:nvSpPr>
          <p:cNvPr id="17" name="Box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8" name="Badge"/>
          <p:cNvSpPr/>
          <p:nvPr/>
        </p:nvSpPr>
        <p:spPr>
          <a:xfrm>
            <a:off x="685800" y="30632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Say where I'm fr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1868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876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Say where I'm from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1508760" y="3337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meu país, minha nacionalidade e minha profissão</a:t>
            </a:r>
            <a:endParaRPr lang="en-US" sz="1400" dirty="0"/>
          </a:p>
        </p:txBody>
      </p:sp>
      <p:sp>
        <p:nvSpPr>
          <p:cNvPr id="22" name="Box"/>
          <p:cNvSpPr/>
          <p:nvPr/>
        </p:nvSpPr>
        <p:spPr>
          <a:xfrm>
            <a:off x="4663440" y="27432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3" name="Badge"/>
          <p:cNvSpPr/>
          <p:nvPr/>
        </p:nvSpPr>
        <p:spPr>
          <a:xfrm>
            <a:off x="4892040" y="30632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Spell wor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21868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150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Spell words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5715000" y="3337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o alfabeto e soletrar meu nome</a:t>
            </a:r>
            <a:endParaRPr lang="en-US" sz="1400" dirty="0"/>
          </a:p>
        </p:txBody>
      </p:sp>
      <p:sp>
        <p:nvSpPr>
          <p:cNvPr id="27" name="Box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Warm-up  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Dialogue  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Vocabulary  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Grammar  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Exercises  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Speaking &amp; Writing   ·   cerca de 135 min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Say hello!</a:t>
            </a:r>
            <a:endParaRPr lang="en-US" sz="3000" dirty="0"/>
          </a:p>
        </p:txBody>
      </p:sp>
      <p:sp>
        <p:nvSpPr>
          <p:cNvPr id="7" name="Exercise letter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16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greetings (1–4) with the pictures (a–d).</a:t>
            </a:r>
            <a:endParaRPr lang="en-US" sz="1500" dirty="0"/>
          </a:p>
        </p:txBody>
      </p:sp>
      <p:sp>
        <p:nvSpPr>
          <p:cNvPr id="10" name="Box"/>
          <p:cNvSpPr/>
          <p:nvPr/>
        </p:nvSpPr>
        <p:spPr>
          <a:xfrm>
            <a:off x="457200" y="17373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" name="Pill"/>
          <p:cNvSpPr/>
          <p:nvPr/>
        </p:nvSpPr>
        <p:spPr>
          <a:xfrm>
            <a:off x="548640" y="1828800"/>
            <a:ext cx="310896" cy="274320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8288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pic>
        <p:nvPicPr>
          <p:cNvPr id="13" name="Image 0" descr="Time of day 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938528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p.m.</a:t>
            </a:r>
            <a:endParaRPr lang="en-US" sz="1500" dirty="0"/>
          </a:p>
        </p:txBody>
      </p:sp>
      <p:sp>
        <p:nvSpPr>
          <p:cNvPr id="15" name="Box"/>
          <p:cNvSpPr/>
          <p:nvPr/>
        </p:nvSpPr>
        <p:spPr>
          <a:xfrm>
            <a:off x="2606040" y="17373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6" name="Pill"/>
          <p:cNvSpPr/>
          <p:nvPr/>
        </p:nvSpPr>
        <p:spPr>
          <a:xfrm>
            <a:off x="2697480" y="1828800"/>
            <a:ext cx="310896" cy="274320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697480" y="18288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pic>
        <p:nvPicPr>
          <p:cNvPr id="18" name="Image 1" descr="Time of day 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38528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60604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a.m.</a:t>
            </a:r>
            <a:endParaRPr lang="en-US" sz="1500" dirty="0"/>
          </a:p>
        </p:txBody>
      </p:sp>
      <p:sp>
        <p:nvSpPr>
          <p:cNvPr id="20" name="Box"/>
          <p:cNvSpPr/>
          <p:nvPr/>
        </p:nvSpPr>
        <p:spPr>
          <a:xfrm>
            <a:off x="457200" y="3200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1" name="Pill"/>
          <p:cNvSpPr/>
          <p:nvPr/>
        </p:nvSpPr>
        <p:spPr>
          <a:xfrm>
            <a:off x="548640" y="3291840"/>
            <a:ext cx="310896" cy="274320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32918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pic>
        <p:nvPicPr>
          <p:cNvPr id="23" name="Image 2" descr="Time of day 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401568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5720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p.m.</a:t>
            </a:r>
            <a:endParaRPr lang="en-US" sz="1500" dirty="0"/>
          </a:p>
        </p:txBody>
      </p:sp>
      <p:sp>
        <p:nvSpPr>
          <p:cNvPr id="25" name="Box"/>
          <p:cNvSpPr/>
          <p:nvPr/>
        </p:nvSpPr>
        <p:spPr>
          <a:xfrm>
            <a:off x="2606040" y="3200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6" name="Pill"/>
          <p:cNvSpPr/>
          <p:nvPr/>
        </p:nvSpPr>
        <p:spPr>
          <a:xfrm>
            <a:off x="2697480" y="3291840"/>
            <a:ext cx="310896" cy="274320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697480" y="32918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pic>
        <p:nvPicPr>
          <p:cNvPr id="28" name="Image 3" descr="Time of day 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401568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60604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p.m.</a:t>
            </a:r>
            <a:endParaRPr lang="en-US" sz="1500" dirty="0"/>
          </a:p>
        </p:txBody>
      </p:sp>
      <p:sp>
        <p:nvSpPr>
          <p:cNvPr id="30" name="Badge"/>
          <p:cNvSpPr/>
          <p:nvPr/>
        </p:nvSpPr>
        <p:spPr>
          <a:xfrm>
            <a:off x="4983480" y="178308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98348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440680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7406640" y="1783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___</a:t>
            </a:r>
            <a:endParaRPr lang="en-US" sz="1600" dirty="0"/>
          </a:p>
        </p:txBody>
      </p:sp>
      <p:sp>
        <p:nvSpPr>
          <p:cNvPr id="34" name="Badge"/>
          <p:cNvSpPr/>
          <p:nvPr/>
        </p:nvSpPr>
        <p:spPr>
          <a:xfrm>
            <a:off x="4983480" y="224028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98348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5440680" y="2240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afternoon</a:t>
            </a:r>
            <a:endParaRPr lang="en-US" sz="1700" dirty="0"/>
          </a:p>
        </p:txBody>
      </p:sp>
      <p:sp>
        <p:nvSpPr>
          <p:cNvPr id="37" name="Text 31"/>
          <p:cNvSpPr txBox="1"/>
          <p:nvPr/>
        </p:nvSpPr>
        <p:spPr>
          <a:xfrm>
            <a:off x="7406640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___</a:t>
            </a:r>
            <a:endParaRPr lang="en-US" sz="1600" dirty="0"/>
          </a:p>
        </p:txBody>
      </p:sp>
      <p:sp>
        <p:nvSpPr>
          <p:cNvPr id="38" name="Badge"/>
          <p:cNvSpPr/>
          <p:nvPr/>
        </p:nvSpPr>
        <p:spPr>
          <a:xfrm>
            <a:off x="4983480" y="269748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498348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5440680" y="2697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evening</a:t>
            </a:r>
            <a:endParaRPr lang="en-US" sz="1700" dirty="0"/>
          </a:p>
        </p:txBody>
      </p:sp>
      <p:sp>
        <p:nvSpPr>
          <p:cNvPr id="41" name="Text 35"/>
          <p:cNvSpPr txBox="1"/>
          <p:nvPr/>
        </p:nvSpPr>
        <p:spPr>
          <a:xfrm>
            <a:off x="7406640" y="2697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___</a:t>
            </a:r>
            <a:endParaRPr lang="en-US" sz="1600" dirty="0"/>
          </a:p>
        </p:txBody>
      </p:sp>
      <p:sp>
        <p:nvSpPr>
          <p:cNvPr id="42" name="Badge"/>
          <p:cNvSpPr/>
          <p:nvPr/>
        </p:nvSpPr>
        <p:spPr>
          <a:xfrm>
            <a:off x="4983480" y="315468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498348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544068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night</a:t>
            </a:r>
            <a:endParaRPr lang="en-US" sz="1700" dirty="0"/>
          </a:p>
        </p:txBody>
      </p:sp>
      <p:sp>
        <p:nvSpPr>
          <p:cNvPr id="45" name="Text 39"/>
          <p:cNvSpPr txBox="1"/>
          <p:nvPr/>
        </p:nvSpPr>
        <p:spPr>
          <a:xfrm>
            <a:off x="7406640" y="31546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___</a:t>
            </a:r>
            <a:endParaRPr lang="en-US" sz="1600" dirty="0"/>
          </a:p>
        </p:txBody>
      </p:sp>
      <p:sp>
        <p:nvSpPr>
          <p:cNvPr id="46" name="Box"/>
          <p:cNvSpPr/>
          <p:nvPr/>
        </p:nvSpPr>
        <p:spPr>
          <a:xfrm>
            <a:off x="4937760" y="374904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47" name="Pill"/>
          <p:cNvSpPr/>
          <p:nvPr/>
        </p:nvSpPr>
        <p:spPr>
          <a:xfrm>
            <a:off x="5074920" y="36210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5074920" y="36210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5120640" y="3931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</a:t>
            </a:r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your teacher. Then answer: </a:t>
            </a:r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name?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Meeting for the first time</a:t>
            </a:r>
            <a:endParaRPr lang="en-US" sz="3000" dirty="0"/>
          </a:p>
        </p:txBody>
      </p:sp>
      <p:sp>
        <p:nvSpPr>
          <p:cNvPr id="7" name="Pill"/>
          <p:cNvSpPr/>
          <p:nvPr/>
        </p:nvSpPr>
        <p:spPr>
          <a:xfrm>
            <a:off x="457200" y="12070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070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1.1</a:t>
            </a:r>
            <a:endParaRPr lang="en-US" sz="1200" dirty="0"/>
          </a:p>
        </p:txBody>
      </p:sp>
      <p:pic>
        <p:nvPicPr>
          <p:cNvPr id="9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read.</a:t>
            </a:r>
            <a:endParaRPr lang="en-US" sz="1500" dirty="0"/>
          </a:p>
        </p:txBody>
      </p:sp>
      <p:pic>
        <p:nvPicPr>
          <p:cNvPr id="11" name="Image 1" descr="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57200" cy="457200"/>
          </a:xfrm>
          <a:prstGeom prst="rect">
            <a:avLst/>
          </a:prstGeom>
        </p:spPr>
      </p:pic>
      <p:sp>
        <p:nvSpPr>
          <p:cNvPr id="12" name="Bubble"/>
          <p:cNvSpPr/>
          <p:nvPr/>
        </p:nvSpPr>
        <p:spPr>
          <a:xfrm>
            <a:off x="1005840" y="1645920"/>
            <a:ext cx="5806440" cy="457200"/>
          </a:xfrm>
          <a:prstGeom prst="roundRect">
            <a:avLst>
              <a:gd name="adj" fmla="val 20000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170432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Tom:</a:t>
            </a:r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Hello! I'm Tom. What's your name?</a:t>
            </a:r>
            <a:endParaRPr lang="en-US" sz="1500" dirty="0"/>
          </a:p>
        </p:txBody>
      </p:sp>
      <p:pic>
        <p:nvPicPr>
          <p:cNvPr id="14" name="Image 2" descr="An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167128"/>
            <a:ext cx="457200" cy="457200"/>
          </a:xfrm>
          <a:prstGeom prst="rect">
            <a:avLst/>
          </a:prstGeom>
        </p:spPr>
      </p:pic>
      <p:sp>
        <p:nvSpPr>
          <p:cNvPr id="15" name="Bubble"/>
          <p:cNvSpPr/>
          <p:nvPr/>
        </p:nvSpPr>
        <p:spPr>
          <a:xfrm>
            <a:off x="2286000" y="2167128"/>
            <a:ext cx="5806440" cy="457200"/>
          </a:xfrm>
          <a:prstGeom prst="roundRect">
            <a:avLst>
              <a:gd name="adj" fmla="val 20000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450592" y="2167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Ana:</a:t>
            </a:r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Hi, Tom! My name's Ana. Nice to meet you.</a:t>
            </a:r>
            <a:endParaRPr lang="en-US" sz="1500" dirty="0"/>
          </a:p>
        </p:txBody>
      </p:sp>
      <p:pic>
        <p:nvPicPr>
          <p:cNvPr id="17" name="Image 3" descr="To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88336"/>
            <a:ext cx="457200" cy="457200"/>
          </a:xfrm>
          <a:prstGeom prst="rect">
            <a:avLst/>
          </a:prstGeom>
        </p:spPr>
      </p:pic>
      <p:sp>
        <p:nvSpPr>
          <p:cNvPr id="18" name="Bubble"/>
          <p:cNvSpPr/>
          <p:nvPr/>
        </p:nvSpPr>
        <p:spPr>
          <a:xfrm>
            <a:off x="1005840" y="2688336"/>
            <a:ext cx="5806440" cy="457200"/>
          </a:xfrm>
          <a:prstGeom prst="roundRect">
            <a:avLst>
              <a:gd name="adj" fmla="val 20000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1170432" y="26883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Tom:</a:t>
            </a:r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Nice to meet you, too. Are you Brazilian?</a:t>
            </a:r>
            <a:endParaRPr lang="en-US" sz="1500" dirty="0"/>
          </a:p>
        </p:txBody>
      </p:sp>
      <p:pic>
        <p:nvPicPr>
          <p:cNvPr id="20" name="Image 4" descr="An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3209544"/>
            <a:ext cx="457200" cy="457200"/>
          </a:xfrm>
          <a:prstGeom prst="rect">
            <a:avLst/>
          </a:prstGeom>
        </p:spPr>
      </p:pic>
      <p:sp>
        <p:nvSpPr>
          <p:cNvPr id="21" name="Bubble"/>
          <p:cNvSpPr/>
          <p:nvPr/>
        </p:nvSpPr>
        <p:spPr>
          <a:xfrm>
            <a:off x="2286000" y="3209544"/>
            <a:ext cx="5806440" cy="457200"/>
          </a:xfrm>
          <a:prstGeom prst="roundRect">
            <a:avLst>
              <a:gd name="adj" fmla="val 20000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2450592" y="32095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Ana:</a:t>
            </a:r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Yes, I am. I'm from São Paulo. And you?</a:t>
            </a:r>
            <a:endParaRPr lang="en-US" sz="1500" dirty="0"/>
          </a:p>
        </p:txBody>
      </p:sp>
      <p:pic>
        <p:nvPicPr>
          <p:cNvPr id="23" name="Image 5" descr="To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30752"/>
            <a:ext cx="457200" cy="457200"/>
          </a:xfrm>
          <a:prstGeom prst="rect">
            <a:avLst/>
          </a:prstGeom>
        </p:spPr>
      </p:pic>
      <p:sp>
        <p:nvSpPr>
          <p:cNvPr id="24" name="Bubble"/>
          <p:cNvSpPr/>
          <p:nvPr/>
        </p:nvSpPr>
        <p:spPr>
          <a:xfrm>
            <a:off x="1005840" y="3730752"/>
            <a:ext cx="5806440" cy="457200"/>
          </a:xfrm>
          <a:prstGeom prst="roundRect">
            <a:avLst>
              <a:gd name="adj" fmla="val 20000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170432" y="37307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Tom:</a:t>
            </a:r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I'm from Canada. I'm a teacher.</a:t>
            </a:r>
            <a:endParaRPr lang="en-US" sz="1500" dirty="0"/>
          </a:p>
        </p:txBody>
      </p:sp>
      <p:pic>
        <p:nvPicPr>
          <p:cNvPr id="26" name="Image 6" descr="An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4251960"/>
            <a:ext cx="457200" cy="457200"/>
          </a:xfrm>
          <a:prstGeom prst="rect">
            <a:avLst/>
          </a:prstGeom>
        </p:spPr>
      </p:pic>
      <p:sp>
        <p:nvSpPr>
          <p:cNvPr id="27" name="Bubble"/>
          <p:cNvSpPr/>
          <p:nvPr/>
        </p:nvSpPr>
        <p:spPr>
          <a:xfrm>
            <a:off x="2286000" y="4251960"/>
            <a:ext cx="5806440" cy="457200"/>
          </a:xfrm>
          <a:prstGeom prst="roundRect">
            <a:avLst>
              <a:gd name="adj" fmla="val 20000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2450592" y="4251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Ana:</a:t>
            </a:r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Great! I'm a student. See you later!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7" name="Exercise letter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16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dialogue again. True (T) or false (F)?</a:t>
            </a:r>
            <a:endParaRPr lang="en-US" sz="1500" dirty="0"/>
          </a:p>
        </p:txBody>
      </p:sp>
      <p:sp>
        <p:nvSpPr>
          <p:cNvPr id="10" name="Badge"/>
          <p:cNvSpPr/>
          <p:nvPr/>
        </p:nvSpPr>
        <p:spPr>
          <a:xfrm>
            <a:off x="457200" y="173736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737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is Brazilian.</a:t>
            </a:r>
            <a:endParaRPr lang="en-US" sz="1600" dirty="0"/>
          </a:p>
        </p:txBody>
      </p:sp>
      <p:sp>
        <p:nvSpPr>
          <p:cNvPr id="13" name="Check box"/>
          <p:cNvSpPr/>
          <p:nvPr/>
        </p:nvSpPr>
        <p:spPr>
          <a:xfrm>
            <a:off x="3931920" y="1755648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17556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15" name="Check box"/>
          <p:cNvSpPr/>
          <p:nvPr/>
        </p:nvSpPr>
        <p:spPr>
          <a:xfrm>
            <a:off x="4389120" y="1755648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17556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17" name="Badge"/>
          <p:cNvSpPr/>
          <p:nvPr/>
        </p:nvSpPr>
        <p:spPr>
          <a:xfrm>
            <a:off x="457200" y="2304288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304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is from São Paulo.</a:t>
            </a:r>
            <a:endParaRPr lang="en-US" sz="1600" dirty="0"/>
          </a:p>
        </p:txBody>
      </p:sp>
      <p:sp>
        <p:nvSpPr>
          <p:cNvPr id="20" name="Check box"/>
          <p:cNvSpPr/>
          <p:nvPr/>
        </p:nvSpPr>
        <p:spPr>
          <a:xfrm>
            <a:off x="3931920" y="2322576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23225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22" name="Check box"/>
          <p:cNvSpPr/>
          <p:nvPr/>
        </p:nvSpPr>
        <p:spPr>
          <a:xfrm>
            <a:off x="4389120" y="2322576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0" y="23225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4" name="Badge"/>
          <p:cNvSpPr/>
          <p:nvPr/>
        </p:nvSpPr>
        <p:spPr>
          <a:xfrm>
            <a:off x="457200" y="2871216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28712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is a teacher.</a:t>
            </a:r>
            <a:endParaRPr lang="en-US" sz="1600" dirty="0"/>
          </a:p>
        </p:txBody>
      </p:sp>
      <p:sp>
        <p:nvSpPr>
          <p:cNvPr id="27" name="Check box"/>
          <p:cNvSpPr/>
          <p:nvPr/>
        </p:nvSpPr>
        <p:spPr>
          <a:xfrm>
            <a:off x="3931920" y="2889504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31920" y="28895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29" name="Check box"/>
          <p:cNvSpPr/>
          <p:nvPr/>
        </p:nvSpPr>
        <p:spPr>
          <a:xfrm>
            <a:off x="4389120" y="2889504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89120" y="28895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1" name="Badge"/>
          <p:cNvSpPr/>
          <p:nvPr/>
        </p:nvSpPr>
        <p:spPr>
          <a:xfrm>
            <a:off x="457200" y="3438144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34381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is a teacher.</a:t>
            </a:r>
            <a:endParaRPr lang="en-US" sz="1600" dirty="0"/>
          </a:p>
        </p:txBody>
      </p:sp>
      <p:sp>
        <p:nvSpPr>
          <p:cNvPr id="34" name="Check box"/>
          <p:cNvSpPr/>
          <p:nvPr/>
        </p:nvSpPr>
        <p:spPr>
          <a:xfrm>
            <a:off x="3931920" y="3456432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31920" y="34564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36" name="Check box"/>
          <p:cNvSpPr/>
          <p:nvPr/>
        </p:nvSpPr>
        <p:spPr>
          <a:xfrm>
            <a:off x="4389120" y="3456432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89120" y="34564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8" name="Exercise letter"/>
          <p:cNvSpPr/>
          <p:nvPr/>
        </p:nvSpPr>
        <p:spPr>
          <a:xfrm>
            <a:off x="4937760" y="1234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3776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349240" y="1216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questions.</a:t>
            </a:r>
            <a:endParaRPr lang="en-US" sz="1500" dirty="0"/>
          </a:p>
        </p:txBody>
      </p:sp>
      <p:sp>
        <p:nvSpPr>
          <p:cNvPr id="41" name="Badge"/>
          <p:cNvSpPr/>
          <p:nvPr/>
        </p:nvSpPr>
        <p:spPr>
          <a:xfrm>
            <a:off x="4937760" y="173736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3776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40680" y="1737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Tom's job?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40680" y="2377440"/>
            <a:ext cx="32004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5" name="Badge"/>
          <p:cNvSpPr/>
          <p:nvPr/>
        </p:nvSpPr>
        <p:spPr>
          <a:xfrm>
            <a:off x="4937760" y="251460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3776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440680" y="2514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Ana from?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440680" y="3154680"/>
            <a:ext cx="32004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9" name="Badge"/>
          <p:cNvSpPr/>
          <p:nvPr/>
        </p:nvSpPr>
        <p:spPr>
          <a:xfrm>
            <a:off x="4937760" y="329184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93776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440680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Tom from Brazil?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40680" y="3931920"/>
            <a:ext cx="32004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53" name="Box"/>
          <p:cNvSpPr/>
          <p:nvPr/>
        </p:nvSpPr>
        <p:spPr>
          <a:xfrm>
            <a:off x="457200" y="416052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40080" y="4160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false sentences: </a:t>
            </a:r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is Canadian.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Meet the students</a:t>
            </a:r>
            <a:endParaRPr lang="en-US" sz="3000" dirty="0"/>
          </a:p>
        </p:txBody>
      </p:sp>
      <p:sp>
        <p:nvSpPr>
          <p:cNvPr id="7" name="Pill"/>
          <p:cNvSpPr/>
          <p:nvPr/>
        </p:nvSpPr>
        <p:spPr>
          <a:xfrm>
            <a:off x="457200" y="12070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070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1.2</a:t>
            </a:r>
            <a:endParaRPr lang="en-US" sz="1200" dirty="0"/>
          </a:p>
        </p:txBody>
      </p:sp>
      <p:pic>
        <p:nvPicPr>
          <p:cNvPr id="9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207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read the profiles.</a:t>
            </a:r>
            <a:endParaRPr lang="en-US" sz="1500" dirty="0"/>
          </a:p>
        </p:txBody>
      </p:sp>
      <p:sp>
        <p:nvSpPr>
          <p:cNvPr id="11" name="Box"/>
          <p:cNvSpPr/>
          <p:nvPr/>
        </p:nvSpPr>
        <p:spPr>
          <a:xfrm>
            <a:off x="457200" y="164592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2" name="Image 1" descr="A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777240" cy="777240"/>
          </a:xfrm>
          <a:prstGeom prst="rect">
            <a:avLst/>
          </a:prstGeom>
        </p:spPr>
      </p:pic>
      <p:pic>
        <p:nvPicPr>
          <p:cNvPr id="13" name="Image 2" descr="Brazil fl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74520"/>
            <a:ext cx="6858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I'm Ana. I'm from Brazil. I'm Brazilian. I'm a student.</a:t>
            </a:r>
            <a:endParaRPr lang="en-US" sz="1400" dirty="0"/>
          </a:p>
        </p:txBody>
      </p:sp>
      <p:sp>
        <p:nvSpPr>
          <p:cNvPr id="16" name="Box"/>
          <p:cNvSpPr/>
          <p:nvPr/>
        </p:nvSpPr>
        <p:spPr>
          <a:xfrm>
            <a:off x="3246120" y="164592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7" name="Image 3" descr="To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783080"/>
            <a:ext cx="777240" cy="777240"/>
          </a:xfrm>
          <a:prstGeom prst="rect">
            <a:avLst/>
          </a:prstGeom>
        </p:spPr>
      </p:pic>
      <p:pic>
        <p:nvPicPr>
          <p:cNvPr id="18" name="Image 4" descr="Canada fla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874520"/>
            <a:ext cx="6858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34340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Tom</a:t>
            </a:r>
            <a:endParaRPr lang="en-US" sz="2000" dirty="0"/>
          </a:p>
        </p:txBody>
      </p:sp>
      <p:sp>
        <p:nvSpPr>
          <p:cNvPr id="20" name="Text 13"/>
          <p:cNvSpPr txBox="1"/>
          <p:nvPr/>
        </p:nvSpPr>
        <p:spPr>
          <a:xfrm>
            <a:off x="338328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I'm Tom. I'm from Canada. I'm Canadian. I'm a teacher.</a:t>
            </a:r>
            <a:endParaRPr lang="en-US" sz="1400" dirty="0"/>
          </a:p>
        </p:txBody>
      </p:sp>
      <p:sp>
        <p:nvSpPr>
          <p:cNvPr id="21" name="Box"/>
          <p:cNvSpPr/>
          <p:nvPr/>
        </p:nvSpPr>
        <p:spPr>
          <a:xfrm>
            <a:off x="6035040" y="164592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22" name="Image 5" descr="Yuk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783080"/>
            <a:ext cx="777240" cy="777240"/>
          </a:xfrm>
          <a:prstGeom prst="rect">
            <a:avLst/>
          </a:prstGeom>
        </p:spPr>
      </p:pic>
      <p:pic>
        <p:nvPicPr>
          <p:cNvPr id="23" name="Image 6" descr="Japan fla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874520"/>
            <a:ext cx="685800" cy="4572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13232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Yuki</a:t>
            </a:r>
            <a:endParaRPr lang="en-US" sz="2000" dirty="0"/>
          </a:p>
        </p:txBody>
      </p:sp>
      <p:sp>
        <p:nvSpPr>
          <p:cNvPr id="25" name="Text 16"/>
          <p:cNvSpPr txBox="1"/>
          <p:nvPr/>
        </p:nvSpPr>
        <p:spPr>
          <a:xfrm>
            <a:off x="617220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My name's Yuki. I'm from Japan. I'm Japanese. I'm a doctor.</a:t>
            </a:r>
            <a:endParaRPr lang="en-US" sz="1400" dirty="0"/>
          </a:p>
        </p:txBody>
      </p:sp>
      <p:sp>
        <p:nvSpPr>
          <p:cNvPr id="26" name="Exercise letter"/>
          <p:cNvSpPr/>
          <p:nvPr/>
        </p:nvSpPr>
        <p:spPr>
          <a:xfrm>
            <a:off x="457200" y="3749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4572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868680" y="37307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the names.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45720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from Canada?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457200" y="4645152"/>
            <a:ext cx="23774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1" name="Text 22"/>
          <p:cNvSpPr txBox="1"/>
          <p:nvPr/>
        </p:nvSpPr>
        <p:spPr>
          <a:xfrm>
            <a:off x="324612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 doctor?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3246120" y="4645152"/>
            <a:ext cx="23774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3" name="Text 24"/>
          <p:cNvSpPr txBox="1"/>
          <p:nvPr/>
        </p:nvSpPr>
        <p:spPr>
          <a:xfrm>
            <a:off x="603504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Brazilian?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6035040" y="4645152"/>
            <a:ext cx="23774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Greetings &amp; goodbyes</a:t>
            </a:r>
            <a:endParaRPr lang="en-US" sz="3000" dirty="0"/>
          </a:p>
        </p:txBody>
      </p:sp>
      <p:sp>
        <p:nvSpPr>
          <p:cNvPr id="7" name="Pill"/>
          <p:cNvSpPr/>
          <p:nvPr/>
        </p:nvSpPr>
        <p:spPr>
          <a:xfrm>
            <a:off x="457200" y="12070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070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1.3</a:t>
            </a:r>
            <a:endParaRPr lang="en-US" sz="1200" dirty="0"/>
          </a:p>
        </p:txBody>
      </p:sp>
      <p:pic>
        <p:nvPicPr>
          <p:cNvPr id="9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207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repeat.</a:t>
            </a:r>
            <a:endParaRPr lang="en-US" sz="1500" dirty="0"/>
          </a:p>
        </p:txBody>
      </p:sp>
      <p:sp>
        <p:nvSpPr>
          <p:cNvPr id="11" name="Box"/>
          <p:cNvSpPr/>
          <p:nvPr/>
        </p:nvSpPr>
        <p:spPr>
          <a:xfrm>
            <a:off x="457200" y="16459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66928" y="17556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Hello / H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2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/ Hi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25420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 / Oi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" y="27432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“Hi, Tom!”</a:t>
            </a:r>
            <a:endParaRPr lang="en-US" sz="1200" dirty="0"/>
          </a:p>
        </p:txBody>
      </p:sp>
      <p:sp>
        <p:nvSpPr>
          <p:cNvPr id="17" name="Box"/>
          <p:cNvSpPr/>
          <p:nvPr/>
        </p:nvSpPr>
        <p:spPr>
          <a:xfrm>
            <a:off x="2560320" y="16459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8" name="Badge"/>
          <p:cNvSpPr/>
          <p:nvPr/>
        </p:nvSpPr>
        <p:spPr>
          <a:xfrm>
            <a:off x="2670048" y="17556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Good mo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87452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670048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2670048" y="25420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dia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2670048" y="27432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morning, Ana.”</a:t>
            </a:r>
            <a:endParaRPr lang="en-US" sz="1200" dirty="0"/>
          </a:p>
        </p:txBody>
      </p:sp>
      <p:sp>
        <p:nvSpPr>
          <p:cNvPr id="23" name="Box"/>
          <p:cNvSpPr/>
          <p:nvPr/>
        </p:nvSpPr>
        <p:spPr>
          <a:xfrm>
            <a:off x="4663440" y="16459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773168" y="17556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Good afterno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87452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773168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afternoon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4773168" y="25420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tarde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773168" y="27432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afternoon!”</a:t>
            </a:r>
            <a:endParaRPr lang="en-US" sz="1200" dirty="0"/>
          </a:p>
        </p:txBody>
      </p:sp>
      <p:sp>
        <p:nvSpPr>
          <p:cNvPr id="29" name="Box"/>
          <p:cNvSpPr/>
          <p:nvPr/>
        </p:nvSpPr>
        <p:spPr>
          <a:xfrm>
            <a:off x="6766560" y="16459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0" name="Badge"/>
          <p:cNvSpPr/>
          <p:nvPr/>
        </p:nvSpPr>
        <p:spPr>
          <a:xfrm>
            <a:off x="6876288" y="17556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Good even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874520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876288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evening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6876288" y="25420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noite (chegada)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6876288" y="27432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evening, all.”</a:t>
            </a:r>
            <a:endParaRPr lang="en-US" sz="1200" dirty="0"/>
          </a:p>
        </p:txBody>
      </p:sp>
      <p:sp>
        <p:nvSpPr>
          <p:cNvPr id="35" name="Box"/>
          <p:cNvSpPr/>
          <p:nvPr/>
        </p:nvSpPr>
        <p:spPr>
          <a:xfrm>
            <a:off x="457200" y="31546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6" name="Badge"/>
          <p:cNvSpPr/>
          <p:nvPr/>
        </p:nvSpPr>
        <p:spPr>
          <a:xfrm>
            <a:off x="566928" y="32644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5" descr="Goodbye / By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83280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66928" y="3794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 / Bye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566928" y="40507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Tchau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566928" y="42519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“Bye, see you!”</a:t>
            </a:r>
            <a:endParaRPr lang="en-US" sz="1200" dirty="0"/>
          </a:p>
        </p:txBody>
      </p:sp>
      <p:sp>
        <p:nvSpPr>
          <p:cNvPr id="41" name="Box"/>
          <p:cNvSpPr/>
          <p:nvPr/>
        </p:nvSpPr>
        <p:spPr>
          <a:xfrm>
            <a:off x="2560320" y="31546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2" name="Badge"/>
          <p:cNvSpPr/>
          <p:nvPr/>
        </p:nvSpPr>
        <p:spPr>
          <a:xfrm>
            <a:off x="2670048" y="32644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3" name="Image 6" descr="See you la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3383280"/>
            <a:ext cx="219456" cy="219456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2670048" y="3794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later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2670048" y="40507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mais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2670048" y="42519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you later!”</a:t>
            </a:r>
            <a:endParaRPr lang="en-US" sz="1200" dirty="0"/>
          </a:p>
        </p:txBody>
      </p:sp>
      <p:sp>
        <p:nvSpPr>
          <p:cNvPr id="47" name="Box"/>
          <p:cNvSpPr/>
          <p:nvPr/>
        </p:nvSpPr>
        <p:spPr>
          <a:xfrm>
            <a:off x="4663440" y="31546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8" name="Badge"/>
          <p:cNvSpPr/>
          <p:nvPr/>
        </p:nvSpPr>
        <p:spPr>
          <a:xfrm>
            <a:off x="4773168" y="32644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9" name="Image 7" descr="Nice to meet you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383280"/>
            <a:ext cx="219456" cy="219456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4773168" y="3794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</a:t>
            </a:r>
            <a:endParaRPr lang="en-US" sz="1500" dirty="0"/>
          </a:p>
        </p:txBody>
      </p:sp>
      <p:sp>
        <p:nvSpPr>
          <p:cNvPr id="51" name="Text 41"/>
          <p:cNvSpPr txBox="1"/>
          <p:nvPr/>
        </p:nvSpPr>
        <p:spPr>
          <a:xfrm>
            <a:off x="4773168" y="40507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Prazer em conhecer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4773168" y="42519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“Nice to meet you.”</a:t>
            </a:r>
            <a:endParaRPr lang="en-US" sz="1200" dirty="0"/>
          </a:p>
        </p:txBody>
      </p:sp>
      <p:sp>
        <p:nvSpPr>
          <p:cNvPr id="53" name="Box"/>
          <p:cNvSpPr/>
          <p:nvPr/>
        </p:nvSpPr>
        <p:spPr>
          <a:xfrm>
            <a:off x="6766560" y="31546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4" name="Badge"/>
          <p:cNvSpPr/>
          <p:nvPr/>
        </p:nvSpPr>
        <p:spPr>
          <a:xfrm>
            <a:off x="6876288" y="32644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5" name="Image 8" descr="Thank you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3383280"/>
            <a:ext cx="219456" cy="219456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876288" y="3794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57" name="Text 46"/>
          <p:cNvSpPr txBox="1"/>
          <p:nvPr/>
        </p:nvSpPr>
        <p:spPr>
          <a:xfrm>
            <a:off x="6876288" y="40507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Obrigado(a)</a:t>
            </a:r>
            <a:endParaRPr lang="en-US" sz="1200" dirty="0"/>
          </a:p>
        </p:txBody>
      </p:sp>
      <p:sp>
        <p:nvSpPr>
          <p:cNvPr id="58" name="Text 47"/>
          <p:cNvSpPr txBox="1"/>
          <p:nvPr/>
        </p:nvSpPr>
        <p:spPr>
          <a:xfrm>
            <a:off x="6876288" y="42519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“Thank you, Tom.”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Countries &amp; nationalities</a:t>
            </a:r>
            <a:endParaRPr lang="en-US" sz="3000" dirty="0"/>
          </a:p>
        </p:txBody>
      </p:sp>
      <p:sp>
        <p:nvSpPr>
          <p:cNvPr id="7" name="Pill"/>
          <p:cNvSpPr/>
          <p:nvPr/>
        </p:nvSpPr>
        <p:spPr>
          <a:xfrm>
            <a:off x="457200" y="12070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070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1.4</a:t>
            </a:r>
            <a:endParaRPr lang="en-US" sz="1200" dirty="0"/>
          </a:p>
        </p:txBody>
      </p:sp>
      <p:pic>
        <p:nvPicPr>
          <p:cNvPr id="9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207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repeat.</a:t>
            </a:r>
            <a:endParaRPr lang="en-US" sz="1500" dirty="0"/>
          </a:p>
        </p:txBody>
      </p:sp>
      <p:sp>
        <p:nvSpPr>
          <p:cNvPr id="11" name="Box"/>
          <p:cNvSpPr/>
          <p:nvPr/>
        </p:nvSpPr>
        <p:spPr>
          <a:xfrm>
            <a:off x="457200" y="16459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2" name="Image 1" descr="Brazil fl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96012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221284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Brazilian</a:t>
            </a:r>
            <a:endParaRPr lang="en-US" sz="1900" dirty="0"/>
          </a:p>
        </p:txBody>
      </p:sp>
      <p:sp>
        <p:nvSpPr>
          <p:cNvPr id="15" name="Box"/>
          <p:cNvSpPr/>
          <p:nvPr/>
        </p:nvSpPr>
        <p:spPr>
          <a:xfrm>
            <a:off x="3246120" y="16459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6" name="Image 2" descr="the USA fl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20240"/>
            <a:ext cx="960120" cy="6400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3484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434840" y="221284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American</a:t>
            </a:r>
            <a:endParaRPr lang="en-US" sz="1900" dirty="0"/>
          </a:p>
        </p:txBody>
      </p:sp>
      <p:sp>
        <p:nvSpPr>
          <p:cNvPr id="19" name="Box"/>
          <p:cNvSpPr/>
          <p:nvPr/>
        </p:nvSpPr>
        <p:spPr>
          <a:xfrm>
            <a:off x="6035040" y="16459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20" name="Image 3" descr="Canada fla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20240"/>
            <a:ext cx="960120" cy="6400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223760" y="221284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Canadian</a:t>
            </a:r>
            <a:endParaRPr lang="en-US" sz="1900" dirty="0"/>
          </a:p>
        </p:txBody>
      </p:sp>
      <p:sp>
        <p:nvSpPr>
          <p:cNvPr id="23" name="Box"/>
          <p:cNvSpPr/>
          <p:nvPr/>
        </p:nvSpPr>
        <p:spPr>
          <a:xfrm>
            <a:off x="457200" y="30175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24" name="Image 4" descr="England fla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91840"/>
            <a:ext cx="960120" cy="6400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45920" y="3273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645920" y="358444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English</a:t>
            </a:r>
            <a:endParaRPr lang="en-US" sz="1900" dirty="0"/>
          </a:p>
        </p:txBody>
      </p:sp>
      <p:sp>
        <p:nvSpPr>
          <p:cNvPr id="27" name="Box"/>
          <p:cNvSpPr/>
          <p:nvPr/>
        </p:nvSpPr>
        <p:spPr>
          <a:xfrm>
            <a:off x="3246120" y="30175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28" name="Image 5" descr="Portugal fla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291840"/>
            <a:ext cx="960120" cy="6400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434840" y="3273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434840" y="358444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Portuguese</a:t>
            </a:r>
            <a:endParaRPr lang="en-US" sz="1900" dirty="0"/>
          </a:p>
        </p:txBody>
      </p:sp>
      <p:sp>
        <p:nvSpPr>
          <p:cNvPr id="31" name="Box"/>
          <p:cNvSpPr/>
          <p:nvPr/>
        </p:nvSpPr>
        <p:spPr>
          <a:xfrm>
            <a:off x="6035040" y="30175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32" name="Image 6" descr="Japan fla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291840"/>
            <a:ext cx="960120" cy="64008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223760" y="3273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7223760" y="358444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Japanese</a:t>
            </a:r>
            <a:endParaRPr lang="en-US" sz="1900" dirty="0"/>
          </a:p>
        </p:txBody>
      </p:sp>
      <p:sp>
        <p:nvSpPr>
          <p:cNvPr id="35" name="Box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nationalities start with a capital letter: </a:t>
            </a:r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brazilian.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Jobs</a:t>
            </a:r>
            <a:endParaRPr lang="en-US" sz="3000" dirty="0"/>
          </a:p>
        </p:txBody>
      </p:sp>
      <p:sp>
        <p:nvSpPr>
          <p:cNvPr id="7" name="Pill"/>
          <p:cNvSpPr/>
          <p:nvPr/>
        </p:nvSpPr>
        <p:spPr>
          <a:xfrm>
            <a:off x="457200" y="12070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070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1.5</a:t>
            </a:r>
            <a:endParaRPr lang="en-US" sz="1200" dirty="0"/>
          </a:p>
        </p:txBody>
      </p:sp>
      <p:pic>
        <p:nvPicPr>
          <p:cNvPr id="9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207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repeat.</a:t>
            </a:r>
            <a:endParaRPr lang="en-US" sz="1500" dirty="0"/>
          </a:p>
        </p:txBody>
      </p:sp>
      <p:sp>
        <p:nvSpPr>
          <p:cNvPr id="11" name="Box"/>
          <p:cNvSpPr/>
          <p:nvPr/>
        </p:nvSpPr>
        <p:spPr>
          <a:xfrm>
            <a:off x="457200" y="164592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960120" y="17556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teach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88366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professor(a)</a:t>
            </a:r>
            <a:endParaRPr lang="en-US" sz="1200" dirty="0"/>
          </a:p>
        </p:txBody>
      </p:sp>
      <p:sp>
        <p:nvSpPr>
          <p:cNvPr id="16" name="Box"/>
          <p:cNvSpPr/>
          <p:nvPr/>
        </p:nvSpPr>
        <p:spPr>
          <a:xfrm>
            <a:off x="2121408" y="164592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2624328" y="17556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stud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188366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121408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2121408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</a:t>
            </a:r>
            <a:endParaRPr lang="en-US" sz="1200" dirty="0"/>
          </a:p>
        </p:txBody>
      </p:sp>
      <p:sp>
        <p:nvSpPr>
          <p:cNvPr id="21" name="Box"/>
          <p:cNvSpPr/>
          <p:nvPr/>
        </p:nvSpPr>
        <p:spPr>
          <a:xfrm>
            <a:off x="3785616" y="164592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4288536" y="17556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doc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88366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785616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3785616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médico(a)</a:t>
            </a:r>
            <a:endParaRPr lang="en-US" sz="1200" dirty="0"/>
          </a:p>
        </p:txBody>
      </p:sp>
      <p:sp>
        <p:nvSpPr>
          <p:cNvPr id="26" name="Box"/>
          <p:cNvSpPr/>
          <p:nvPr/>
        </p:nvSpPr>
        <p:spPr>
          <a:xfrm>
            <a:off x="5449824" y="164592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7" name="Badge"/>
          <p:cNvSpPr/>
          <p:nvPr/>
        </p:nvSpPr>
        <p:spPr>
          <a:xfrm>
            <a:off x="5952744" y="17556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engine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883664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449824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5449824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engenheiro(a)</a:t>
            </a:r>
            <a:endParaRPr lang="en-US" sz="1200" dirty="0"/>
          </a:p>
        </p:txBody>
      </p:sp>
      <p:sp>
        <p:nvSpPr>
          <p:cNvPr id="31" name="Box"/>
          <p:cNvSpPr/>
          <p:nvPr/>
        </p:nvSpPr>
        <p:spPr>
          <a:xfrm>
            <a:off x="7114032" y="164592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7616952" y="17556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5" descr="manag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1883664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14032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7114032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1200" dirty="0"/>
          </a:p>
        </p:txBody>
      </p:sp>
      <p:sp>
        <p:nvSpPr>
          <p:cNvPr id="36" name="Exercise letter"/>
          <p:cNvSpPr/>
          <p:nvPr/>
        </p:nvSpPr>
        <p:spPr>
          <a:xfrm>
            <a:off x="457200" y="32461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572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868680" y="32278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pictures. Write the jobs.</a:t>
            </a:r>
            <a:endParaRPr lang="en-US" sz="1500" dirty="0"/>
          </a:p>
        </p:txBody>
      </p:sp>
      <p:sp>
        <p:nvSpPr>
          <p:cNvPr id="39" name="Badge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E2F7EE"/>
          </a:solidFill>
          <a:ln w="12700">
            <a:solidFill>
              <a:srgbClr val="E2F7EE"/>
            </a:solidFill>
            <a:prstDash val="solid"/>
          </a:ln>
        </p:spPr>
      </p:sp>
      <p:pic>
        <p:nvPicPr>
          <p:cNvPr id="40" name="Image 6" descr="Job picture 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822192"/>
            <a:ext cx="265176" cy="26517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51560" y="3703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Shape 33"/>
          <p:cNvSpPr/>
          <p:nvPr/>
        </p:nvSpPr>
        <p:spPr>
          <a:xfrm>
            <a:off x="960120" y="4343400"/>
            <a:ext cx="14173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3" name="Badge"/>
          <p:cNvSpPr/>
          <p:nvPr/>
        </p:nvSpPr>
        <p:spPr>
          <a:xfrm>
            <a:off x="2560320" y="3703320"/>
            <a:ext cx="502920" cy="502920"/>
          </a:xfrm>
          <a:prstGeom prst="ellipse">
            <a:avLst/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</p:spPr>
      </p:sp>
      <p:pic>
        <p:nvPicPr>
          <p:cNvPr id="44" name="Image 7" descr="Job picture 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9192" y="3822192"/>
            <a:ext cx="265176" cy="265176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3154680" y="3703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Shape 36"/>
          <p:cNvSpPr/>
          <p:nvPr/>
        </p:nvSpPr>
        <p:spPr>
          <a:xfrm>
            <a:off x="3063240" y="4343400"/>
            <a:ext cx="14173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7" name="Badge"/>
          <p:cNvSpPr/>
          <p:nvPr/>
        </p:nvSpPr>
        <p:spPr>
          <a:xfrm>
            <a:off x="4663440" y="3703320"/>
            <a:ext cx="502920" cy="502920"/>
          </a:xfrm>
          <a:prstGeom prst="ellipse">
            <a:avLst/>
          </a:prstGeom>
          <a:solidFill>
            <a:srgbClr val="EFEAFE"/>
          </a:solidFill>
          <a:ln w="12700">
            <a:solidFill>
              <a:srgbClr val="EFEAFE"/>
            </a:solidFill>
            <a:prstDash val="solid"/>
          </a:ln>
        </p:spPr>
      </p:sp>
      <p:pic>
        <p:nvPicPr>
          <p:cNvPr id="48" name="Image 8" descr="Job picture 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2312" y="3822192"/>
            <a:ext cx="265176" cy="265176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5257800" y="3703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Shape 39"/>
          <p:cNvSpPr/>
          <p:nvPr/>
        </p:nvSpPr>
        <p:spPr>
          <a:xfrm>
            <a:off x="5166360" y="4343400"/>
            <a:ext cx="14173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51" name="Badge"/>
          <p:cNvSpPr/>
          <p:nvPr/>
        </p:nvSpPr>
        <p:spPr>
          <a:xfrm>
            <a:off x="6766560" y="3703320"/>
            <a:ext cx="502920" cy="50292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pic>
        <p:nvPicPr>
          <p:cNvPr id="52" name="Image 9" descr="Job picture 4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2" y="3822192"/>
            <a:ext cx="265176" cy="265176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7360920" y="3703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Shape 42"/>
          <p:cNvSpPr/>
          <p:nvPr/>
        </p:nvSpPr>
        <p:spPr>
          <a:xfrm>
            <a:off x="7269480" y="4343400"/>
            <a:ext cx="14173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alphabet</a:t>
            </a:r>
            <a:endParaRPr lang="en-US" sz="3000" dirty="0"/>
          </a:p>
        </p:txBody>
      </p:sp>
      <p:sp>
        <p:nvSpPr>
          <p:cNvPr id="7" name="Pill"/>
          <p:cNvSpPr/>
          <p:nvPr/>
        </p:nvSpPr>
        <p:spPr>
          <a:xfrm>
            <a:off x="457200" y="12070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070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1.6</a:t>
            </a:r>
            <a:endParaRPr lang="en-US" sz="1200" dirty="0"/>
          </a:p>
        </p:txBody>
      </p:sp>
      <p:pic>
        <p:nvPicPr>
          <p:cNvPr id="9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2070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repeat. Vowels (</a:t>
            </a:r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 I O U</a:t>
            </a:r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in yellow.</a:t>
            </a:r>
            <a:endParaRPr lang="en-US" sz="1500" dirty="0"/>
          </a:p>
        </p:txBody>
      </p:sp>
      <p:sp>
        <p:nvSpPr>
          <p:cNvPr id="11" name="Letter"/>
          <p:cNvSpPr/>
          <p:nvPr/>
        </p:nvSpPr>
        <p:spPr>
          <a:xfrm>
            <a:off x="457200" y="1645920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6824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1214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êi</a:t>
            </a:r>
            <a:endParaRPr lang="en-US" sz="1100" dirty="0"/>
          </a:p>
        </p:txBody>
      </p:sp>
      <p:sp>
        <p:nvSpPr>
          <p:cNvPr id="14" name="Letter"/>
          <p:cNvSpPr/>
          <p:nvPr/>
        </p:nvSpPr>
        <p:spPr>
          <a:xfrm>
            <a:off x="1371600" y="1645920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71600" y="16824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21214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100" dirty="0"/>
          </a:p>
        </p:txBody>
      </p:sp>
      <p:sp>
        <p:nvSpPr>
          <p:cNvPr id="17" name="Letter"/>
          <p:cNvSpPr/>
          <p:nvPr/>
        </p:nvSpPr>
        <p:spPr>
          <a:xfrm>
            <a:off x="2286000" y="1645920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86000" y="16824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2286000" y="21214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20" name="Letter"/>
          <p:cNvSpPr/>
          <p:nvPr/>
        </p:nvSpPr>
        <p:spPr>
          <a:xfrm>
            <a:off x="3200400" y="1645920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0400" y="16824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3200400" y="21214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endParaRPr lang="en-US" sz="1100" dirty="0"/>
          </a:p>
        </p:txBody>
      </p:sp>
      <p:sp>
        <p:nvSpPr>
          <p:cNvPr id="23" name="Letter"/>
          <p:cNvSpPr/>
          <p:nvPr/>
        </p:nvSpPr>
        <p:spPr>
          <a:xfrm>
            <a:off x="4114800" y="1645920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14800" y="16824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0" y="21214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26" name="Letter"/>
          <p:cNvSpPr/>
          <p:nvPr/>
        </p:nvSpPr>
        <p:spPr>
          <a:xfrm>
            <a:off x="5029200" y="1645920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0" y="16824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0" y="21214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éf</a:t>
            </a:r>
            <a:endParaRPr lang="en-US" sz="1100" dirty="0"/>
          </a:p>
        </p:txBody>
      </p:sp>
      <p:sp>
        <p:nvSpPr>
          <p:cNvPr id="29" name="Letter"/>
          <p:cNvSpPr/>
          <p:nvPr/>
        </p:nvSpPr>
        <p:spPr>
          <a:xfrm>
            <a:off x="5943600" y="1645920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0" y="16824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0" y="21214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djí</a:t>
            </a:r>
            <a:endParaRPr lang="en-US" sz="1100" dirty="0"/>
          </a:p>
        </p:txBody>
      </p:sp>
      <p:sp>
        <p:nvSpPr>
          <p:cNvPr id="32" name="Letter"/>
          <p:cNvSpPr/>
          <p:nvPr/>
        </p:nvSpPr>
        <p:spPr>
          <a:xfrm>
            <a:off x="6858000" y="1645920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0" y="16824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0" y="21214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êitch</a:t>
            </a:r>
            <a:endParaRPr lang="en-US" sz="1100" dirty="0"/>
          </a:p>
        </p:txBody>
      </p:sp>
      <p:sp>
        <p:nvSpPr>
          <p:cNvPr id="35" name="Letter"/>
          <p:cNvSpPr/>
          <p:nvPr/>
        </p:nvSpPr>
        <p:spPr>
          <a:xfrm>
            <a:off x="7772400" y="1645920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0" y="16824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6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21214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38" name="Letter"/>
          <p:cNvSpPr/>
          <p:nvPr/>
        </p:nvSpPr>
        <p:spPr>
          <a:xfrm>
            <a:off x="457200" y="2487168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252374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</a:t>
            </a:r>
            <a:endParaRPr lang="en-US" sz="26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2962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djêi</a:t>
            </a:r>
            <a:endParaRPr lang="en-US" sz="1100" dirty="0"/>
          </a:p>
        </p:txBody>
      </p:sp>
      <p:sp>
        <p:nvSpPr>
          <p:cNvPr id="41" name="Letter"/>
          <p:cNvSpPr/>
          <p:nvPr/>
        </p:nvSpPr>
        <p:spPr>
          <a:xfrm>
            <a:off x="1371600" y="2487168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371600" y="252374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</a:t>
            </a:r>
            <a:endParaRPr lang="en-US" sz="2600" dirty="0"/>
          </a:p>
        </p:txBody>
      </p:sp>
      <p:sp>
        <p:nvSpPr>
          <p:cNvPr id="43" name="Text 40"/>
          <p:cNvSpPr txBox="1"/>
          <p:nvPr/>
        </p:nvSpPr>
        <p:spPr>
          <a:xfrm>
            <a:off x="1371600" y="2962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kêi</a:t>
            </a:r>
            <a:endParaRPr lang="en-US" sz="1100" dirty="0"/>
          </a:p>
        </p:txBody>
      </p:sp>
      <p:sp>
        <p:nvSpPr>
          <p:cNvPr id="44" name="Letter"/>
          <p:cNvSpPr/>
          <p:nvPr/>
        </p:nvSpPr>
        <p:spPr>
          <a:xfrm>
            <a:off x="2286000" y="2487168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286000" y="252374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</a:t>
            </a:r>
            <a:endParaRPr lang="en-US" sz="2600" dirty="0"/>
          </a:p>
        </p:txBody>
      </p:sp>
      <p:sp>
        <p:nvSpPr>
          <p:cNvPr id="46" name="Text 43"/>
          <p:cNvSpPr txBox="1"/>
          <p:nvPr/>
        </p:nvSpPr>
        <p:spPr>
          <a:xfrm>
            <a:off x="2286000" y="2962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</a:t>
            </a:r>
            <a:endParaRPr lang="en-US" sz="1100" dirty="0"/>
          </a:p>
        </p:txBody>
      </p:sp>
      <p:sp>
        <p:nvSpPr>
          <p:cNvPr id="47" name="Letter"/>
          <p:cNvSpPr/>
          <p:nvPr/>
        </p:nvSpPr>
        <p:spPr>
          <a:xfrm>
            <a:off x="3200400" y="2487168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00400" y="252374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</a:t>
            </a:r>
            <a:endParaRPr lang="en-US" sz="2600" dirty="0"/>
          </a:p>
        </p:txBody>
      </p:sp>
      <p:sp>
        <p:nvSpPr>
          <p:cNvPr id="49" name="Text 46"/>
          <p:cNvSpPr txBox="1"/>
          <p:nvPr/>
        </p:nvSpPr>
        <p:spPr>
          <a:xfrm>
            <a:off x="3200400" y="2962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</a:t>
            </a:r>
            <a:endParaRPr lang="en-US" sz="1100" dirty="0"/>
          </a:p>
        </p:txBody>
      </p:sp>
      <p:sp>
        <p:nvSpPr>
          <p:cNvPr id="50" name="Letter"/>
          <p:cNvSpPr/>
          <p:nvPr/>
        </p:nvSpPr>
        <p:spPr>
          <a:xfrm>
            <a:off x="4114800" y="2487168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114800" y="252374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</a:t>
            </a:r>
            <a:endParaRPr lang="en-US" sz="2600" dirty="0"/>
          </a:p>
        </p:txBody>
      </p:sp>
      <p:sp>
        <p:nvSpPr>
          <p:cNvPr id="52" name="Text 49"/>
          <p:cNvSpPr txBox="1"/>
          <p:nvPr/>
        </p:nvSpPr>
        <p:spPr>
          <a:xfrm>
            <a:off x="4114800" y="2962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</a:t>
            </a:r>
            <a:endParaRPr lang="en-US" sz="1100" dirty="0"/>
          </a:p>
        </p:txBody>
      </p:sp>
      <p:sp>
        <p:nvSpPr>
          <p:cNvPr id="53" name="Letter"/>
          <p:cNvSpPr/>
          <p:nvPr/>
        </p:nvSpPr>
        <p:spPr>
          <a:xfrm>
            <a:off x="5029200" y="2487168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029200" y="252374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</a:t>
            </a:r>
            <a:endParaRPr lang="en-US" sz="2600" dirty="0"/>
          </a:p>
        </p:txBody>
      </p:sp>
      <p:sp>
        <p:nvSpPr>
          <p:cNvPr id="55" name="Text 52"/>
          <p:cNvSpPr txBox="1"/>
          <p:nvPr/>
        </p:nvSpPr>
        <p:spPr>
          <a:xfrm>
            <a:off x="5029200" y="2962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ôu</a:t>
            </a:r>
            <a:endParaRPr lang="en-US" sz="1100" dirty="0"/>
          </a:p>
        </p:txBody>
      </p:sp>
      <p:sp>
        <p:nvSpPr>
          <p:cNvPr id="56" name="Letter"/>
          <p:cNvSpPr/>
          <p:nvPr/>
        </p:nvSpPr>
        <p:spPr>
          <a:xfrm>
            <a:off x="5943600" y="2487168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943600" y="252374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</a:t>
            </a:r>
            <a:endParaRPr lang="en-US" sz="2600" dirty="0"/>
          </a:p>
        </p:txBody>
      </p:sp>
      <p:sp>
        <p:nvSpPr>
          <p:cNvPr id="58" name="Text 55"/>
          <p:cNvSpPr txBox="1"/>
          <p:nvPr/>
        </p:nvSpPr>
        <p:spPr>
          <a:xfrm>
            <a:off x="5943600" y="2962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100" dirty="0"/>
          </a:p>
        </p:txBody>
      </p:sp>
      <p:sp>
        <p:nvSpPr>
          <p:cNvPr id="59" name="Letter"/>
          <p:cNvSpPr/>
          <p:nvPr/>
        </p:nvSpPr>
        <p:spPr>
          <a:xfrm>
            <a:off x="6858000" y="2487168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858000" y="252374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</a:t>
            </a:r>
            <a:endParaRPr lang="en-US" sz="2600" dirty="0"/>
          </a:p>
        </p:txBody>
      </p:sp>
      <p:sp>
        <p:nvSpPr>
          <p:cNvPr id="61" name="Text 58"/>
          <p:cNvSpPr txBox="1"/>
          <p:nvPr/>
        </p:nvSpPr>
        <p:spPr>
          <a:xfrm>
            <a:off x="6858000" y="2962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kiú</a:t>
            </a:r>
            <a:endParaRPr lang="en-US" sz="1100" dirty="0"/>
          </a:p>
        </p:txBody>
      </p:sp>
      <p:sp>
        <p:nvSpPr>
          <p:cNvPr id="62" name="Letter"/>
          <p:cNvSpPr/>
          <p:nvPr/>
        </p:nvSpPr>
        <p:spPr>
          <a:xfrm>
            <a:off x="7772400" y="2487168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772400" y="252374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</a:t>
            </a:r>
            <a:endParaRPr lang="en-US" sz="2600" dirty="0"/>
          </a:p>
        </p:txBody>
      </p:sp>
      <p:sp>
        <p:nvSpPr>
          <p:cNvPr id="64" name="Text 61"/>
          <p:cNvSpPr txBox="1"/>
          <p:nvPr/>
        </p:nvSpPr>
        <p:spPr>
          <a:xfrm>
            <a:off x="7772400" y="2962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100" dirty="0"/>
          </a:p>
        </p:txBody>
      </p:sp>
      <p:sp>
        <p:nvSpPr>
          <p:cNvPr id="65" name="Letter"/>
          <p:cNvSpPr/>
          <p:nvPr/>
        </p:nvSpPr>
        <p:spPr>
          <a:xfrm>
            <a:off x="457200" y="3328416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57200" y="336499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</a:t>
            </a:r>
            <a:endParaRPr lang="en-US" sz="2600" dirty="0"/>
          </a:p>
        </p:txBody>
      </p:sp>
      <p:sp>
        <p:nvSpPr>
          <p:cNvPr id="67" name="Text 64"/>
          <p:cNvSpPr txBox="1"/>
          <p:nvPr/>
        </p:nvSpPr>
        <p:spPr>
          <a:xfrm>
            <a:off x="457200" y="38039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endParaRPr lang="en-US" sz="1100" dirty="0"/>
          </a:p>
        </p:txBody>
      </p:sp>
      <p:sp>
        <p:nvSpPr>
          <p:cNvPr id="68" name="Letter"/>
          <p:cNvSpPr/>
          <p:nvPr/>
        </p:nvSpPr>
        <p:spPr>
          <a:xfrm>
            <a:off x="1371600" y="3328416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371600" y="336499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</a:t>
            </a:r>
            <a:endParaRPr lang="en-US" sz="2600" dirty="0"/>
          </a:p>
        </p:txBody>
      </p:sp>
      <p:sp>
        <p:nvSpPr>
          <p:cNvPr id="70" name="Text 67"/>
          <p:cNvSpPr txBox="1"/>
          <p:nvPr/>
        </p:nvSpPr>
        <p:spPr>
          <a:xfrm>
            <a:off x="1371600" y="38039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100" dirty="0"/>
          </a:p>
        </p:txBody>
      </p:sp>
      <p:sp>
        <p:nvSpPr>
          <p:cNvPr id="71" name="Letter"/>
          <p:cNvSpPr/>
          <p:nvPr/>
        </p:nvSpPr>
        <p:spPr>
          <a:xfrm>
            <a:off x="2286000" y="3328416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2286000" y="336499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</a:t>
            </a:r>
            <a:endParaRPr lang="en-US" sz="2600" dirty="0"/>
          </a:p>
        </p:txBody>
      </p:sp>
      <p:sp>
        <p:nvSpPr>
          <p:cNvPr id="73" name="Text 70"/>
          <p:cNvSpPr txBox="1"/>
          <p:nvPr/>
        </p:nvSpPr>
        <p:spPr>
          <a:xfrm>
            <a:off x="2286000" y="38039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iú</a:t>
            </a:r>
            <a:endParaRPr lang="en-US" sz="1100" dirty="0"/>
          </a:p>
        </p:txBody>
      </p:sp>
      <p:sp>
        <p:nvSpPr>
          <p:cNvPr id="74" name="Letter"/>
          <p:cNvSpPr/>
          <p:nvPr/>
        </p:nvSpPr>
        <p:spPr>
          <a:xfrm>
            <a:off x="3200400" y="3328416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3200400" y="336499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</a:t>
            </a:r>
            <a:endParaRPr lang="en-US" sz="2600" dirty="0"/>
          </a:p>
        </p:txBody>
      </p:sp>
      <p:sp>
        <p:nvSpPr>
          <p:cNvPr id="76" name="Text 73"/>
          <p:cNvSpPr txBox="1"/>
          <p:nvPr/>
        </p:nvSpPr>
        <p:spPr>
          <a:xfrm>
            <a:off x="3200400" y="38039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100" dirty="0"/>
          </a:p>
        </p:txBody>
      </p:sp>
      <p:sp>
        <p:nvSpPr>
          <p:cNvPr id="77" name="Letter"/>
          <p:cNvSpPr/>
          <p:nvPr/>
        </p:nvSpPr>
        <p:spPr>
          <a:xfrm>
            <a:off x="4114800" y="3328416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4114800" y="336499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</a:t>
            </a:r>
            <a:endParaRPr lang="en-US" sz="2600" dirty="0"/>
          </a:p>
        </p:txBody>
      </p:sp>
      <p:sp>
        <p:nvSpPr>
          <p:cNvPr id="79" name="Text 76"/>
          <p:cNvSpPr txBox="1"/>
          <p:nvPr/>
        </p:nvSpPr>
        <p:spPr>
          <a:xfrm>
            <a:off x="4114800" y="38039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dâbliu</a:t>
            </a:r>
            <a:endParaRPr lang="en-US" sz="1100" dirty="0"/>
          </a:p>
        </p:txBody>
      </p:sp>
      <p:sp>
        <p:nvSpPr>
          <p:cNvPr id="80" name="Letter"/>
          <p:cNvSpPr/>
          <p:nvPr/>
        </p:nvSpPr>
        <p:spPr>
          <a:xfrm>
            <a:off x="5029200" y="3328416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5029200" y="336499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X</a:t>
            </a:r>
            <a:endParaRPr lang="en-US" sz="2600" dirty="0"/>
          </a:p>
        </p:txBody>
      </p:sp>
      <p:sp>
        <p:nvSpPr>
          <p:cNvPr id="82" name="Text 79"/>
          <p:cNvSpPr txBox="1"/>
          <p:nvPr/>
        </p:nvSpPr>
        <p:spPr>
          <a:xfrm>
            <a:off x="5029200" y="38039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éks</a:t>
            </a:r>
            <a:endParaRPr lang="en-US" sz="1100" dirty="0"/>
          </a:p>
        </p:txBody>
      </p:sp>
      <p:sp>
        <p:nvSpPr>
          <p:cNvPr id="83" name="Letter"/>
          <p:cNvSpPr/>
          <p:nvPr/>
        </p:nvSpPr>
        <p:spPr>
          <a:xfrm>
            <a:off x="5943600" y="3328416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5943600" y="336499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</a:t>
            </a:r>
            <a:endParaRPr lang="en-US" sz="2600" dirty="0"/>
          </a:p>
        </p:txBody>
      </p:sp>
      <p:sp>
        <p:nvSpPr>
          <p:cNvPr id="85" name="Text 82"/>
          <p:cNvSpPr txBox="1"/>
          <p:nvPr/>
        </p:nvSpPr>
        <p:spPr>
          <a:xfrm>
            <a:off x="5943600" y="38039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uái</a:t>
            </a:r>
            <a:endParaRPr lang="en-US" sz="1100" dirty="0"/>
          </a:p>
        </p:txBody>
      </p:sp>
      <p:sp>
        <p:nvSpPr>
          <p:cNvPr id="86" name="Letter"/>
          <p:cNvSpPr/>
          <p:nvPr/>
        </p:nvSpPr>
        <p:spPr>
          <a:xfrm>
            <a:off x="6858000" y="3328416"/>
            <a:ext cx="84124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6858000" y="336499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Z</a:t>
            </a:r>
            <a:endParaRPr lang="en-US" sz="2600" dirty="0"/>
          </a:p>
        </p:txBody>
      </p:sp>
      <p:sp>
        <p:nvSpPr>
          <p:cNvPr id="88" name="Text 85"/>
          <p:cNvSpPr txBox="1"/>
          <p:nvPr/>
        </p:nvSpPr>
        <p:spPr>
          <a:xfrm>
            <a:off x="6858000" y="38039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</a:t>
            </a:r>
            <a:endParaRPr lang="en-US" sz="1100" dirty="0"/>
          </a:p>
        </p:txBody>
      </p:sp>
      <p:sp>
        <p:nvSpPr>
          <p:cNvPr id="89" name="Your turn"/>
          <p:cNvSpPr/>
          <p:nvPr/>
        </p:nvSpPr>
        <p:spPr>
          <a:xfrm>
            <a:off x="7772400" y="3328416"/>
            <a:ext cx="914400" cy="749808"/>
          </a:xfrm>
          <a:prstGeom prst="roundRect">
            <a:avLst>
              <a:gd name="adj" fmla="val 12195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772400" y="3328416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name?</a:t>
            </a:r>
            <a:endParaRPr lang="en-US" sz="1200" dirty="0"/>
          </a:p>
        </p:txBody>
      </p:sp>
      <p:sp>
        <p:nvSpPr>
          <p:cNvPr id="91" name="Box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spell your name?</a:t>
            </a:r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T-O-M</a:t>
            </a:r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A-N-A</a:t>
            </a:r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Y-U-K-I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Verb to be: I am, you are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verbo </a:t>
            </a:r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</a:t>
            </a:r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 </a:t>
            </a:r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</a:t>
            </a:r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Grammar box"/>
          <p:cNvSpPr/>
          <p:nvPr/>
        </p:nvSpPr>
        <p:spPr>
          <a:xfrm>
            <a:off x="457200" y="16459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E6F3FF"/>
          </a:solidFill>
          <a:ln w="12700">
            <a:solidFill>
              <a:srgbClr val="B7D9F5"/>
            </a:solidFill>
            <a:prstDash val="solid"/>
          </a:ln>
        </p:spPr>
      </p:sp>
      <p:sp>
        <p:nvSpPr>
          <p:cNvPr id="9" name="Pill"/>
          <p:cNvSpPr/>
          <p:nvPr/>
        </p:nvSpPr>
        <p:spPr>
          <a:xfrm>
            <a:off x="594360" y="151790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517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BOX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Ana.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2651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Tom.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154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inglês, a frase sempre precisa de 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sujeito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“Sou professor” → 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teacher.</a:t>
            </a:r>
            <a:endParaRPr lang="en-US" sz="1300" dirty="0"/>
          </a:p>
        </p:txBody>
      </p:sp>
      <p:pic>
        <p:nvPicPr>
          <p:cNvPr id="24" name="Image 0" descr="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554480"/>
            <a:ext cx="1005840" cy="1005840"/>
          </a:xfrm>
          <a:prstGeom prst="rect">
            <a:avLst/>
          </a:prstGeom>
        </p:spPr>
      </p:pic>
      <p:sp>
        <p:nvSpPr>
          <p:cNvPr id="25" name="Pill"/>
          <p:cNvSpPr/>
          <p:nvPr/>
        </p:nvSpPr>
        <p:spPr>
          <a:xfrm>
            <a:off x="6949440" y="1691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4944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Ana.</a:t>
            </a:r>
            <a:endParaRPr lang="en-US" sz="1700" dirty="0"/>
          </a:p>
        </p:txBody>
      </p:sp>
      <p:pic>
        <p:nvPicPr>
          <p:cNvPr id="27" name="Image 1" descr="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697480"/>
            <a:ext cx="1005840" cy="1005840"/>
          </a:xfrm>
          <a:prstGeom prst="rect">
            <a:avLst/>
          </a:prstGeom>
        </p:spPr>
      </p:pic>
      <p:sp>
        <p:nvSpPr>
          <p:cNvPr id="28" name="Pill"/>
          <p:cNvSpPr/>
          <p:nvPr/>
        </p:nvSpPr>
        <p:spPr>
          <a:xfrm>
            <a:off x="5943600" y="2834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9436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Tom.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5943600" y="2834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5DCE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9436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Tom.</a:t>
            </a:r>
            <a:endParaRPr lang="en-US" sz="1700" dirty="0"/>
          </a:p>
        </p:txBody>
      </p:sp>
      <p:sp>
        <p:nvSpPr>
          <p:cNvPr id="32" name="Tip box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33" name="Pill"/>
          <p:cNvSpPr/>
          <p:nvPr/>
        </p:nvSpPr>
        <p:spPr>
          <a:xfrm>
            <a:off x="594360" y="380390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94360" y="3803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40080" y="408736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 txBox="1"/>
          <p:nvPr/>
        </p:nvSpPr>
        <p:spPr>
          <a:xfrm>
            <a:off x="640080" y="41330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 am     </a:t>
            </a:r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you are      Na fala, usamos quase sempre a forma curta.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Negatives, questions &amp; short answers</a:t>
            </a:r>
            <a:endParaRPr lang="en-US" sz="3000" dirty="0"/>
          </a:p>
        </p:txBody>
      </p:sp>
      <p:sp>
        <p:nvSpPr>
          <p:cNvPr id="7" name="Box"/>
          <p:cNvSpPr/>
          <p:nvPr/>
        </p:nvSpPr>
        <p:spPr>
          <a:xfrm>
            <a:off x="457200" y="128016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Affirmative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from Brazil.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student.</a:t>
            </a:r>
            <a:endParaRPr lang="en-US" sz="1600" dirty="0"/>
          </a:p>
        </p:txBody>
      </p:sp>
      <p:sp>
        <p:nvSpPr>
          <p:cNvPr id="13" name="Box"/>
          <p:cNvSpPr/>
          <p:nvPr/>
        </p:nvSpPr>
        <p:spPr>
          <a:xfrm>
            <a:off x="3246120" y="128016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3383280" y="1417320"/>
            <a:ext cx="457200" cy="457200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Negative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Japan.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</a:t>
            </a:r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aren't</a:t>
            </a:r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doctor.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You're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Box"/>
          <p:cNvSpPr/>
          <p:nvPr/>
        </p:nvSpPr>
        <p:spPr>
          <a:xfrm>
            <a:off x="6035040" y="128016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a student?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from Canada?</a:t>
            </a:r>
            <a:endParaRPr lang="en-US" sz="1600" dirty="0"/>
          </a:p>
        </p:txBody>
      </p:sp>
      <p:sp>
        <p:nvSpPr>
          <p:cNvPr id="25" name="Box"/>
          <p:cNvSpPr/>
          <p:nvPr/>
        </p:nvSpPr>
        <p:spPr>
          <a:xfrm>
            <a:off x="457200" y="37033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6" name="Pill"/>
          <p:cNvSpPr/>
          <p:nvPr/>
        </p:nvSpPr>
        <p:spPr>
          <a:xfrm>
            <a:off x="594360" y="357530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575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 student?</a:t>
            </a:r>
            <a:endParaRPr lang="en-US" sz="1600" dirty="0"/>
          </a:p>
        </p:txBody>
      </p:sp>
      <p:sp>
        <p:nvSpPr>
          <p:cNvPr id="29" name="Answer"/>
          <p:cNvSpPr/>
          <p:nvPr/>
        </p:nvSpPr>
        <p:spPr>
          <a:xfrm>
            <a:off x="3383280" y="390448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7EE0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3904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</a:t>
            </a:r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pPr algn="ctr"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Answer"/>
          <p:cNvSpPr/>
          <p:nvPr/>
        </p:nvSpPr>
        <p:spPr>
          <a:xfrm>
            <a:off x="5760720" y="390448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557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60720" y="3904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I'</a:t>
            </a:r>
            <a:pPr algn="ctr"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not</a:t>
            </a:r>
            <a:pPr algn="ctr"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resposta curta, repita só o verbo: 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am.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(não: Yes, I'm.)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BRASIL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out for these mistakes</a:t>
            </a:r>
            <a:endParaRPr lang="en-US" sz="3000" dirty="0"/>
          </a:p>
        </p:txBody>
      </p:sp>
      <p:sp>
        <p:nvSpPr>
          <p:cNvPr id="7" name="Box"/>
          <p:cNvSpPr/>
          <p:nvPr/>
        </p:nvSpPr>
        <p:spPr>
          <a:xfrm>
            <a:off x="457200" y="128016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640080" y="1435608"/>
            <a:ext cx="438912" cy="438912"/>
          </a:xfrm>
          <a:prstGeom prst="ellipse">
            <a:avLst/>
          </a:prstGeom>
          <a:solidFill>
            <a:srgbClr val="FBE0DD"/>
          </a:solidFill>
          <a:ln w="12700">
            <a:solidFill>
              <a:srgbClr val="FBE0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435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2801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Ana.</a:t>
            </a:r>
            <a:endParaRPr lang="en-US" sz="1800" dirty="0"/>
          </a:p>
        </p:txBody>
      </p:sp>
      <p:sp>
        <p:nvSpPr>
          <p:cNvPr id="11" name="Badge"/>
          <p:cNvSpPr/>
          <p:nvPr/>
        </p:nvSpPr>
        <p:spPr>
          <a:xfrm>
            <a:off x="3657600" y="1435608"/>
            <a:ext cx="438912" cy="438912"/>
          </a:xfrm>
          <a:prstGeom prst="ellipse">
            <a:avLst/>
          </a:prstGeom>
          <a:solidFill>
            <a:srgbClr val="E2F7EE"/>
          </a:solidFill>
          <a:ln w="12700">
            <a:solidFill>
              <a:srgbClr val="E2F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1435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12801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Ana.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2801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sujeito é obrigatório.</a:t>
            </a:r>
            <a:endParaRPr lang="en-US" sz="1300" dirty="0"/>
          </a:p>
        </p:txBody>
      </p:sp>
      <p:sp>
        <p:nvSpPr>
          <p:cNvPr id="15" name="Box"/>
          <p:cNvSpPr/>
          <p:nvPr/>
        </p:nvSpPr>
        <p:spPr>
          <a:xfrm>
            <a:off x="457200" y="214884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640080" y="2304288"/>
            <a:ext cx="438912" cy="438912"/>
          </a:xfrm>
          <a:prstGeom prst="ellipse">
            <a:avLst/>
          </a:prstGeom>
          <a:solidFill>
            <a:srgbClr val="FBE0DD"/>
          </a:solidFill>
          <a:ln w="12700">
            <a:solidFill>
              <a:srgbClr val="FBE0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1488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I'm.</a:t>
            </a:r>
            <a:endParaRPr lang="en-US" sz="1800" dirty="0"/>
          </a:p>
        </p:txBody>
      </p:sp>
      <p:sp>
        <p:nvSpPr>
          <p:cNvPr id="19" name="Badge"/>
          <p:cNvSpPr/>
          <p:nvPr/>
        </p:nvSpPr>
        <p:spPr>
          <a:xfrm>
            <a:off x="3657600" y="2304288"/>
            <a:ext cx="438912" cy="438912"/>
          </a:xfrm>
          <a:prstGeom prst="ellipse">
            <a:avLst/>
          </a:prstGeom>
          <a:solidFill>
            <a:srgbClr val="E2F7EE"/>
          </a:solidFill>
          <a:ln w="12700">
            <a:solidFill>
              <a:srgbClr val="E2F7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2148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am.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148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resposta curta, não use a forma contraída.</a:t>
            </a:r>
            <a:endParaRPr lang="en-US" sz="1300" dirty="0"/>
          </a:p>
        </p:txBody>
      </p:sp>
      <p:sp>
        <p:nvSpPr>
          <p:cNvPr id="23" name="Box"/>
          <p:cNvSpPr/>
          <p:nvPr/>
        </p:nvSpPr>
        <p:spPr>
          <a:xfrm>
            <a:off x="457200" y="301752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640080" y="3172968"/>
            <a:ext cx="438912" cy="438912"/>
          </a:xfrm>
          <a:prstGeom prst="ellipse">
            <a:avLst/>
          </a:prstGeom>
          <a:solidFill>
            <a:srgbClr val="FBE0DD"/>
          </a:solidFill>
          <a:ln w="12700">
            <a:solidFill>
              <a:srgbClr val="FBE0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0175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from?</a:t>
            </a:r>
            <a:endParaRPr lang="en-US" sz="1800" dirty="0"/>
          </a:p>
        </p:txBody>
      </p:sp>
      <p:sp>
        <p:nvSpPr>
          <p:cNvPr id="27" name="Badge"/>
          <p:cNvSpPr/>
          <p:nvPr/>
        </p:nvSpPr>
        <p:spPr>
          <a:xfrm>
            <a:off x="3657600" y="3172968"/>
            <a:ext cx="438912" cy="438912"/>
          </a:xfrm>
          <a:prstGeom prst="ellipse">
            <a:avLst/>
          </a:prstGeom>
          <a:solidFill>
            <a:srgbClr val="E2F7EE"/>
          </a:solidFill>
          <a:ln w="12700">
            <a:solidFill>
              <a:srgbClr val="E2F7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57600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30175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from?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30175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pergunta, o verbo vem antes do sujeito.</a:t>
            </a:r>
            <a:endParaRPr lang="en-US" sz="1300" dirty="0"/>
          </a:p>
        </p:txBody>
      </p:sp>
      <p:sp>
        <p:nvSpPr>
          <p:cNvPr id="31" name="Box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2F7EE"/>
          </a:solidFill>
          <a:ln w="12700">
            <a:solidFill>
              <a:srgbClr val="BFE9D6"/>
            </a:solidFill>
            <a:prstDash val="solid"/>
          </a:ln>
        </p:spPr>
      </p:sp>
      <p:sp>
        <p:nvSpPr>
          <p:cNvPr id="32" name="Pill"/>
          <p:cNvSpPr/>
          <p:nvPr/>
        </p:nvSpPr>
        <p:spPr>
          <a:xfrm>
            <a:off x="594360" y="398678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CORNER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you?” é uma saudação, não uma pergunta sobre saúde. A resposta comum é </a:t>
            </a:r>
            <a:pPr indent="0" marL="0">
              <a:buNone/>
            </a:pPr>
            <a:r>
              <a:rPr lang="en-US" sz="1400" b="1" dirty="0">
                <a:solidFill>
                  <a:srgbClr val="1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Fine, thanks. And you?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Practice</a:t>
            </a:r>
            <a:endParaRPr lang="en-US" sz="3000" dirty="0"/>
          </a:p>
        </p:txBody>
      </p:sp>
      <p:sp>
        <p:nvSpPr>
          <p:cNvPr id="7" name="Exercise letter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16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sentences with the words in the box.</a:t>
            </a:r>
            <a:endParaRPr lang="en-US" sz="1500" dirty="0"/>
          </a:p>
        </p:txBody>
      </p:sp>
      <p:sp>
        <p:nvSpPr>
          <p:cNvPr id="10" name="Word box"/>
          <p:cNvSpPr/>
          <p:nvPr/>
        </p:nvSpPr>
        <p:spPr>
          <a:xfrm>
            <a:off x="457200" y="16916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 not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aren't</a:t>
            </a:r>
            <a:endParaRPr lang="en-US" sz="1700" dirty="0"/>
          </a:p>
        </p:txBody>
      </p:sp>
      <p:sp>
        <p:nvSpPr>
          <p:cNvPr id="16" name="Badge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I _____ Tom.</a:t>
            </a:r>
            <a:endParaRPr lang="en-US" sz="1700" dirty="0"/>
          </a:p>
        </p:txBody>
      </p:sp>
      <p:sp>
        <p:nvSpPr>
          <p:cNvPr id="19" name="Badge"/>
          <p:cNvSpPr/>
          <p:nvPr/>
        </p:nvSpPr>
        <p:spPr>
          <a:xfrm>
            <a:off x="4663440" y="2377440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 a teacher.</a:t>
            </a:r>
            <a:endParaRPr lang="en-US" sz="1700" dirty="0"/>
          </a:p>
        </p:txBody>
      </p:sp>
      <p:sp>
        <p:nvSpPr>
          <p:cNvPr id="22" name="Badge"/>
          <p:cNvSpPr/>
          <p:nvPr/>
        </p:nvSpPr>
        <p:spPr>
          <a:xfrm>
            <a:off x="457200" y="3127248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you Brazilian?</a:t>
            </a:r>
            <a:endParaRPr lang="en-US" sz="1700" dirty="0"/>
          </a:p>
        </p:txBody>
      </p:sp>
      <p:sp>
        <p:nvSpPr>
          <p:cNvPr id="25" name="Badge"/>
          <p:cNvSpPr/>
          <p:nvPr/>
        </p:nvSpPr>
        <p:spPr>
          <a:xfrm>
            <a:off x="4663440" y="3127248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_____.</a:t>
            </a:r>
            <a:endParaRPr lang="en-US" sz="1700" dirty="0"/>
          </a:p>
        </p:txBody>
      </p:sp>
      <p:sp>
        <p:nvSpPr>
          <p:cNvPr id="28" name="Badge"/>
          <p:cNvSpPr/>
          <p:nvPr/>
        </p:nvSpPr>
        <p:spPr>
          <a:xfrm>
            <a:off x="457200" y="3877056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3877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_____ from Japan. (negative)</a:t>
            </a:r>
            <a:endParaRPr lang="en-US" sz="1700" dirty="0"/>
          </a:p>
        </p:txBody>
      </p:sp>
      <p:sp>
        <p:nvSpPr>
          <p:cNvPr id="31" name="Badge"/>
          <p:cNvSpPr/>
          <p:nvPr/>
        </p:nvSpPr>
        <p:spPr>
          <a:xfrm>
            <a:off x="4663440" y="3877056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3877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 American. (negative)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Practice</a:t>
            </a:r>
            <a:endParaRPr lang="en-US" sz="3000" dirty="0"/>
          </a:p>
        </p:txBody>
      </p:sp>
      <p:sp>
        <p:nvSpPr>
          <p:cNvPr id="7" name="Exercise letter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16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words in order.</a:t>
            </a:r>
            <a:endParaRPr lang="en-US" sz="1500" dirty="0"/>
          </a:p>
        </p:txBody>
      </p:sp>
      <p:sp>
        <p:nvSpPr>
          <p:cNvPr id="10" name="Badge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is / My / Ana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2304288"/>
            <a:ext cx="30175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4" name="Badge"/>
          <p:cNvSpPr/>
          <p:nvPr/>
        </p:nvSpPr>
        <p:spPr>
          <a:xfrm>
            <a:off x="457200" y="2395728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/ Are / Brazilian / 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2962656"/>
            <a:ext cx="30175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8" name="Badge"/>
          <p:cNvSpPr/>
          <p:nvPr/>
        </p:nvSpPr>
        <p:spPr>
          <a:xfrm>
            <a:off x="457200" y="3054096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054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/ I'm / Canada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3621024"/>
            <a:ext cx="30175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2" name="Badge"/>
          <p:cNvSpPr/>
          <p:nvPr/>
        </p:nvSpPr>
        <p:spPr>
          <a:xfrm>
            <a:off x="457200" y="3712464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712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meet / Nice / you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0120" y="4279392"/>
            <a:ext cx="30175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6" name="Exercise letter"/>
          <p:cNvSpPr/>
          <p:nvPr/>
        </p:nvSpPr>
        <p:spPr>
          <a:xfrm>
            <a:off x="4663440" y="1234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1216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sentences.</a:t>
            </a:r>
            <a:endParaRPr lang="en-US" sz="1500" dirty="0"/>
          </a:p>
        </p:txBody>
      </p:sp>
      <p:sp>
        <p:nvSpPr>
          <p:cNvPr id="29" name="Badge"/>
          <p:cNvSpPr/>
          <p:nvPr/>
        </p:nvSpPr>
        <p:spPr>
          <a:xfrm>
            <a:off x="4663440" y="1737360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34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student.</a:t>
            </a:r>
            <a:endParaRPr lang="en-US" sz="1600" dirty="0"/>
          </a:p>
        </p:txBody>
      </p:sp>
      <p:sp>
        <p:nvSpPr>
          <p:cNvPr id="32" name="Pill"/>
          <p:cNvSpPr/>
          <p:nvPr/>
        </p:nvSpPr>
        <p:spPr>
          <a:xfrm>
            <a:off x="7772400" y="177393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 w="12700">
            <a:solidFill>
              <a:srgbClr val="7CC4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17739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2304288"/>
            <a:ext cx="34290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5" name="Badge"/>
          <p:cNvSpPr/>
          <p:nvPr/>
        </p:nvSpPr>
        <p:spPr>
          <a:xfrm>
            <a:off x="4663440" y="2395728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6344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16636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doctor.</a:t>
            </a:r>
            <a:endParaRPr lang="en-US" sz="1600" dirty="0"/>
          </a:p>
        </p:txBody>
      </p:sp>
      <p:sp>
        <p:nvSpPr>
          <p:cNvPr id="38" name="Pill"/>
          <p:cNvSpPr/>
          <p:nvPr/>
        </p:nvSpPr>
        <p:spPr>
          <a:xfrm>
            <a:off x="7772400" y="24323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0" y="24323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66360" y="2962656"/>
            <a:ext cx="34290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1" name="Badge"/>
          <p:cNvSpPr/>
          <p:nvPr/>
        </p:nvSpPr>
        <p:spPr>
          <a:xfrm>
            <a:off x="4663440" y="3054096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6344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166360" y="30540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from Japan.</a:t>
            </a:r>
            <a:endParaRPr lang="en-US" sz="1600" dirty="0"/>
          </a:p>
        </p:txBody>
      </p:sp>
      <p:sp>
        <p:nvSpPr>
          <p:cNvPr id="44" name="Pill"/>
          <p:cNvSpPr/>
          <p:nvPr/>
        </p:nvSpPr>
        <p:spPr>
          <a:xfrm>
            <a:off x="7772400" y="3090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 w="12700">
            <a:solidFill>
              <a:srgbClr val="7CC4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0" y="30906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66360" y="3621024"/>
            <a:ext cx="34290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7" name="Badge"/>
          <p:cNvSpPr/>
          <p:nvPr/>
        </p:nvSpPr>
        <p:spPr>
          <a:xfrm>
            <a:off x="4663440" y="3712464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6344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166360" y="37124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Tom.</a:t>
            </a:r>
            <a:endParaRPr lang="en-US" sz="1600" dirty="0"/>
          </a:p>
        </p:txBody>
      </p:sp>
      <p:sp>
        <p:nvSpPr>
          <p:cNvPr id="50" name="Pill"/>
          <p:cNvSpPr/>
          <p:nvPr/>
        </p:nvSpPr>
        <p:spPr>
          <a:xfrm>
            <a:off x="7772400" y="37490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72400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66360" y="4279392"/>
            <a:ext cx="34290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Listening</a:t>
            </a:r>
            <a:endParaRPr lang="en-US" sz="3000" dirty="0"/>
          </a:p>
        </p:txBody>
      </p:sp>
      <p:sp>
        <p:nvSpPr>
          <p:cNvPr id="7" name="Pill"/>
          <p:cNvSpPr/>
          <p:nvPr/>
        </p:nvSpPr>
        <p:spPr>
          <a:xfrm>
            <a:off x="457200" y="12070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070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1.7</a:t>
            </a:r>
            <a:endParaRPr lang="en-US" sz="1200" dirty="0"/>
          </a:p>
        </p:txBody>
      </p:sp>
      <p:pic>
        <p:nvPicPr>
          <p:cNvPr id="9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164592" cy="164592"/>
          </a:xfrm>
          <a:prstGeom prst="rect">
            <a:avLst/>
          </a:prstGeom>
        </p:spPr>
      </p:pic>
      <p:sp>
        <p:nvSpPr>
          <p:cNvPr id="10" name="Exercise letter"/>
          <p:cNvSpPr/>
          <p:nvPr/>
        </p:nvSpPr>
        <p:spPr>
          <a:xfrm>
            <a:off x="1463040" y="12070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6304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1188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write the names you hear.</a:t>
            </a:r>
            <a:endParaRPr lang="en-US" sz="1500" dirty="0"/>
          </a:p>
        </p:txBody>
      </p:sp>
      <p:sp>
        <p:nvSpPr>
          <p:cNvPr id="13" name="Box"/>
          <p:cNvSpPr/>
          <p:nvPr/>
        </p:nvSpPr>
        <p:spPr>
          <a:xfrm>
            <a:off x="457200" y="1783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4" name="Image 1" descr="Speaker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874520"/>
            <a:ext cx="914400" cy="914400"/>
          </a:xfrm>
          <a:prstGeom prst="rect">
            <a:avLst/>
          </a:prstGeom>
        </p:spPr>
      </p:pic>
      <p:sp>
        <p:nvSpPr>
          <p:cNvPr id="15" name="Badge"/>
          <p:cNvSpPr/>
          <p:nvPr/>
        </p:nvSpPr>
        <p:spPr>
          <a:xfrm>
            <a:off x="566928" y="192024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6692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325880" y="3182112"/>
            <a:ext cx="16459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9" name="Text 15"/>
          <p:cNvSpPr txBox="1"/>
          <p:nvPr/>
        </p:nvSpPr>
        <p:spPr>
          <a:xfrm>
            <a:off x="64008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Country: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1325880" y="3502152"/>
            <a:ext cx="16459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1" name="Box"/>
          <p:cNvSpPr/>
          <p:nvPr/>
        </p:nvSpPr>
        <p:spPr>
          <a:xfrm>
            <a:off x="3246120" y="1783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22" name="Image 2" descr="Speaker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74520"/>
            <a:ext cx="914400" cy="914400"/>
          </a:xfrm>
          <a:prstGeom prst="rect">
            <a:avLst/>
          </a:prstGeom>
        </p:spPr>
      </p:pic>
      <p:sp>
        <p:nvSpPr>
          <p:cNvPr id="23" name="Badge"/>
          <p:cNvSpPr/>
          <p:nvPr/>
        </p:nvSpPr>
        <p:spPr>
          <a:xfrm>
            <a:off x="3355848" y="192024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35584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42900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114800" y="3182112"/>
            <a:ext cx="16459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7" name="Text 22"/>
          <p:cNvSpPr txBox="1"/>
          <p:nvPr/>
        </p:nvSpPr>
        <p:spPr>
          <a:xfrm>
            <a:off x="342900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Country: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4114800" y="3502152"/>
            <a:ext cx="16459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9" name="Box"/>
          <p:cNvSpPr/>
          <p:nvPr/>
        </p:nvSpPr>
        <p:spPr>
          <a:xfrm>
            <a:off x="6035040" y="1783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30" name="Image 3" descr="Speaker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74520"/>
            <a:ext cx="914400" cy="914400"/>
          </a:xfrm>
          <a:prstGeom prst="rect">
            <a:avLst/>
          </a:prstGeom>
        </p:spPr>
      </p:pic>
      <p:sp>
        <p:nvSpPr>
          <p:cNvPr id="31" name="Badge"/>
          <p:cNvSpPr/>
          <p:nvPr/>
        </p:nvSpPr>
        <p:spPr>
          <a:xfrm>
            <a:off x="6144768" y="192024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14476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21792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6903720" y="3182112"/>
            <a:ext cx="16459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5" name="Text 29"/>
          <p:cNvSpPr txBox="1"/>
          <p:nvPr/>
        </p:nvSpPr>
        <p:spPr>
          <a:xfrm>
            <a:off x="621792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Country: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6903720" y="3502152"/>
            <a:ext cx="16459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7" name="Box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38" name="Pill"/>
          <p:cNvSpPr/>
          <p:nvPr/>
        </p:nvSpPr>
        <p:spPr>
          <a:xfrm>
            <a:off x="594360" y="37124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594360" y="37124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2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again. Circle the greeting you hear:   1 </a:t>
            </a:r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 / Good evening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 </a:t>
            </a:r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/ Hi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 </a:t>
            </a:r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 / See you later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Practice</a:t>
            </a:r>
            <a:endParaRPr lang="en-US" sz="3000" dirty="0"/>
          </a:p>
        </p:txBody>
      </p:sp>
      <p:sp>
        <p:nvSpPr>
          <p:cNvPr id="7" name="Exercise letter"/>
          <p:cNvSpPr/>
          <p:nvPr/>
        </p:nvSpPr>
        <p:spPr>
          <a:xfrm>
            <a:off x="457200" y="1234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16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 correct answer: a, b or c.</a:t>
            </a:r>
            <a:endParaRPr lang="en-US" sz="1500" dirty="0"/>
          </a:p>
        </p:txBody>
      </p:sp>
      <p:sp>
        <p:nvSpPr>
          <p:cNvPr id="10" name="Badge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you from Japan?</a:t>
            </a:r>
            <a:endParaRPr lang="en-US" sz="1600" dirty="0"/>
          </a:p>
        </p:txBody>
      </p:sp>
      <p:sp>
        <p:nvSpPr>
          <p:cNvPr id="13" name="Option"/>
          <p:cNvSpPr/>
          <p:nvPr/>
        </p:nvSpPr>
        <p:spPr>
          <a:xfrm>
            <a:off x="4480560" y="1755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17556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Am</a:t>
            </a:r>
            <a:endParaRPr lang="en-US" sz="1400" dirty="0"/>
          </a:p>
        </p:txBody>
      </p:sp>
      <p:sp>
        <p:nvSpPr>
          <p:cNvPr id="15" name="Option"/>
          <p:cNvSpPr/>
          <p:nvPr/>
        </p:nvSpPr>
        <p:spPr>
          <a:xfrm>
            <a:off x="5897880" y="1755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17556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Are</a:t>
            </a:r>
            <a:endParaRPr lang="en-US" sz="1400" dirty="0"/>
          </a:p>
        </p:txBody>
      </p:sp>
      <p:sp>
        <p:nvSpPr>
          <p:cNvPr id="17" name="Option"/>
          <p:cNvSpPr/>
          <p:nvPr/>
        </p:nvSpPr>
        <p:spPr>
          <a:xfrm>
            <a:off x="7315200" y="1755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17556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Is</a:t>
            </a:r>
            <a:endParaRPr lang="en-US" sz="1400" dirty="0"/>
          </a:p>
        </p:txBody>
      </p:sp>
      <p:sp>
        <p:nvSpPr>
          <p:cNvPr id="19" name="Badge"/>
          <p:cNvSpPr/>
          <p:nvPr/>
        </p:nvSpPr>
        <p:spPr>
          <a:xfrm>
            <a:off x="457200" y="2322576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23225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_____ a teacher.</a:t>
            </a:r>
            <a:endParaRPr lang="en-US" sz="1600" dirty="0"/>
          </a:p>
        </p:txBody>
      </p:sp>
      <p:sp>
        <p:nvSpPr>
          <p:cNvPr id="22" name="Option"/>
          <p:cNvSpPr/>
          <p:nvPr/>
        </p:nvSpPr>
        <p:spPr>
          <a:xfrm>
            <a:off x="4480560" y="234086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23408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are</a:t>
            </a:r>
            <a:endParaRPr lang="en-US" sz="1400" dirty="0"/>
          </a:p>
        </p:txBody>
      </p:sp>
      <p:sp>
        <p:nvSpPr>
          <p:cNvPr id="24" name="Option"/>
          <p:cNvSpPr/>
          <p:nvPr/>
        </p:nvSpPr>
        <p:spPr>
          <a:xfrm>
            <a:off x="5897880" y="234086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97880" y="23408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am</a:t>
            </a:r>
            <a:endParaRPr lang="en-US" sz="1400" dirty="0"/>
          </a:p>
        </p:txBody>
      </p:sp>
      <p:sp>
        <p:nvSpPr>
          <p:cNvPr id="26" name="Option"/>
          <p:cNvSpPr/>
          <p:nvPr/>
        </p:nvSpPr>
        <p:spPr>
          <a:xfrm>
            <a:off x="7315200" y="234086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23408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is</a:t>
            </a:r>
            <a:endParaRPr lang="en-US" sz="1400" dirty="0"/>
          </a:p>
        </p:txBody>
      </p:sp>
      <p:sp>
        <p:nvSpPr>
          <p:cNvPr id="28" name="Badge"/>
          <p:cNvSpPr/>
          <p:nvPr/>
        </p:nvSpPr>
        <p:spPr>
          <a:xfrm>
            <a:off x="457200" y="2907792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_____.</a:t>
            </a:r>
            <a:endParaRPr lang="en-US" sz="1600" dirty="0"/>
          </a:p>
        </p:txBody>
      </p:sp>
      <p:sp>
        <p:nvSpPr>
          <p:cNvPr id="31" name="Option"/>
          <p:cNvSpPr/>
          <p:nvPr/>
        </p:nvSpPr>
        <p:spPr>
          <a:xfrm>
            <a:off x="4480560" y="2926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0560" y="2926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am</a:t>
            </a:r>
            <a:endParaRPr lang="en-US" sz="1400" dirty="0"/>
          </a:p>
        </p:txBody>
      </p:sp>
      <p:sp>
        <p:nvSpPr>
          <p:cNvPr id="33" name="Option"/>
          <p:cNvSpPr/>
          <p:nvPr/>
        </p:nvSpPr>
        <p:spPr>
          <a:xfrm>
            <a:off x="5897880" y="2926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2926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I'm</a:t>
            </a:r>
            <a:endParaRPr lang="en-US" sz="1400" dirty="0"/>
          </a:p>
        </p:txBody>
      </p:sp>
      <p:sp>
        <p:nvSpPr>
          <p:cNvPr id="35" name="Option"/>
          <p:cNvSpPr/>
          <p:nvPr/>
        </p:nvSpPr>
        <p:spPr>
          <a:xfrm>
            <a:off x="7315200" y="2926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0" y="2926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are</a:t>
            </a:r>
            <a:endParaRPr lang="en-US" sz="1400" dirty="0"/>
          </a:p>
        </p:txBody>
      </p:sp>
      <p:sp>
        <p:nvSpPr>
          <p:cNvPr id="37" name="Badge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60120" y="3493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_____ you from?</a:t>
            </a:r>
            <a:endParaRPr lang="en-US" sz="1600" dirty="0"/>
          </a:p>
        </p:txBody>
      </p:sp>
      <p:sp>
        <p:nvSpPr>
          <p:cNvPr id="40" name="Option"/>
          <p:cNvSpPr/>
          <p:nvPr/>
        </p:nvSpPr>
        <p:spPr>
          <a:xfrm>
            <a:off x="4480560" y="3511296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80560" y="35112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you are</a:t>
            </a:r>
            <a:endParaRPr lang="en-US" sz="1400" dirty="0"/>
          </a:p>
        </p:txBody>
      </p:sp>
      <p:sp>
        <p:nvSpPr>
          <p:cNvPr id="42" name="Option"/>
          <p:cNvSpPr/>
          <p:nvPr/>
        </p:nvSpPr>
        <p:spPr>
          <a:xfrm>
            <a:off x="5897880" y="3511296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897880" y="35112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am</a:t>
            </a:r>
            <a:endParaRPr lang="en-US" sz="1400" dirty="0"/>
          </a:p>
        </p:txBody>
      </p:sp>
      <p:sp>
        <p:nvSpPr>
          <p:cNvPr id="44" name="Option"/>
          <p:cNvSpPr/>
          <p:nvPr/>
        </p:nvSpPr>
        <p:spPr>
          <a:xfrm>
            <a:off x="7315200" y="3511296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0" y="35112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are</a:t>
            </a:r>
            <a:endParaRPr lang="en-US" sz="1400" dirty="0"/>
          </a:p>
        </p:txBody>
      </p:sp>
      <p:sp>
        <p:nvSpPr>
          <p:cNvPr id="46" name="Badge"/>
          <p:cNvSpPr/>
          <p:nvPr/>
        </p:nvSpPr>
        <p:spPr>
          <a:xfrm>
            <a:off x="457200" y="4078224"/>
            <a:ext cx="365760" cy="36576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960120" y="40782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 Canadian. (negative)</a:t>
            </a:r>
            <a:endParaRPr lang="en-US" sz="1600" dirty="0"/>
          </a:p>
        </p:txBody>
      </p:sp>
      <p:sp>
        <p:nvSpPr>
          <p:cNvPr id="49" name="Option"/>
          <p:cNvSpPr/>
          <p:nvPr/>
        </p:nvSpPr>
        <p:spPr>
          <a:xfrm>
            <a:off x="4480560" y="4096512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80560" y="4096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isn't</a:t>
            </a:r>
            <a:endParaRPr lang="en-US" sz="1400" dirty="0"/>
          </a:p>
        </p:txBody>
      </p:sp>
      <p:sp>
        <p:nvSpPr>
          <p:cNvPr id="51" name="Option"/>
          <p:cNvSpPr/>
          <p:nvPr/>
        </p:nvSpPr>
        <p:spPr>
          <a:xfrm>
            <a:off x="5897880" y="4096512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897880" y="4096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aren't</a:t>
            </a:r>
            <a:endParaRPr lang="en-US" sz="1400" dirty="0"/>
          </a:p>
        </p:txBody>
      </p:sp>
      <p:sp>
        <p:nvSpPr>
          <p:cNvPr id="53" name="Option"/>
          <p:cNvSpPr/>
          <p:nvPr/>
        </p:nvSpPr>
        <p:spPr>
          <a:xfrm>
            <a:off x="7315200" y="4096512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15200" y="4096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amn't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Role-play: meet a new classmate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Student A is </a:t>
            </a:r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</a:t>
            </a:r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Student B is </a:t>
            </a:r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</a:t>
            </a:r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Use the information in the cards.</a:t>
            </a:r>
            <a:endParaRPr lang="en-US" sz="1500" dirty="0"/>
          </a:p>
        </p:txBody>
      </p:sp>
      <p:sp>
        <p:nvSpPr>
          <p:cNvPr id="8" name="Box"/>
          <p:cNvSpPr/>
          <p:nvPr/>
        </p:nvSpPr>
        <p:spPr>
          <a:xfrm>
            <a:off x="457200" y="16459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9" name="Image 0" descr="Carl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914400" cy="914400"/>
          </a:xfrm>
          <a:prstGeom prst="rect">
            <a:avLst/>
          </a:prstGeom>
        </p:spPr>
      </p:pic>
      <p:sp>
        <p:nvSpPr>
          <p:cNvPr id="10" name="Pill"/>
          <p:cNvSpPr/>
          <p:nvPr/>
        </p:nvSpPr>
        <p:spPr>
          <a:xfrm>
            <a:off x="1691640" y="18288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91640" y="1828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Carlos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· Brazilian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4" name="Box"/>
          <p:cNvSpPr/>
          <p:nvPr/>
        </p:nvSpPr>
        <p:spPr>
          <a:xfrm>
            <a:off x="457200" y="315468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5" name="Image 1" descr="Em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337560"/>
            <a:ext cx="914400" cy="914400"/>
          </a:xfrm>
          <a:prstGeom prst="rect">
            <a:avLst/>
          </a:prstGeom>
        </p:spPr>
      </p:pic>
      <p:sp>
        <p:nvSpPr>
          <p:cNvPr id="16" name="Pill"/>
          <p:cNvSpPr/>
          <p:nvPr/>
        </p:nvSpPr>
        <p:spPr>
          <a:xfrm>
            <a:off x="1691640" y="333756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691640" y="3337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691640" y="3630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Emma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1691640" y="3995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 · English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 dirty="0"/>
          </a:p>
        </p:txBody>
      </p:sp>
      <p:sp>
        <p:nvSpPr>
          <p:cNvPr id="20" name="Box"/>
          <p:cNvSpPr/>
          <p:nvPr/>
        </p:nvSpPr>
        <p:spPr>
          <a:xfrm>
            <a:off x="3931920" y="1645920"/>
            <a:ext cx="4754880" cy="2880360"/>
          </a:xfrm>
          <a:prstGeom prst="roundRect">
            <a:avLst>
              <a:gd name="adj" fmla="val 317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1" name="Badge"/>
          <p:cNvSpPr/>
          <p:nvPr/>
        </p:nvSpPr>
        <p:spPr>
          <a:xfrm>
            <a:off x="4114800" y="1783080"/>
            <a:ext cx="365760" cy="365760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114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61772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Greet: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Hello! / Good morning!</a:t>
            </a:r>
            <a:endParaRPr lang="en-US" sz="1400" dirty="0"/>
          </a:p>
        </p:txBody>
      </p:sp>
      <p:sp>
        <p:nvSpPr>
          <p:cNvPr id="24" name="Badge"/>
          <p:cNvSpPr/>
          <p:nvPr/>
        </p:nvSpPr>
        <p:spPr>
          <a:xfrm>
            <a:off x="4114800" y="2258568"/>
            <a:ext cx="365760" cy="365760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11480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617720" y="2258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name: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What's your name?</a:t>
            </a:r>
            <a:endParaRPr lang="en-US" sz="1400" dirty="0"/>
          </a:p>
        </p:txBody>
      </p:sp>
      <p:sp>
        <p:nvSpPr>
          <p:cNvPr id="27" name="Badge"/>
          <p:cNvSpPr/>
          <p:nvPr/>
        </p:nvSpPr>
        <p:spPr>
          <a:xfrm>
            <a:off x="4114800" y="2734056"/>
            <a:ext cx="365760" cy="365760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11480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4617720" y="2734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it: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do you spell it?</a:t>
            </a:r>
            <a:endParaRPr lang="en-US" sz="1400" dirty="0"/>
          </a:p>
        </p:txBody>
      </p:sp>
      <p:sp>
        <p:nvSpPr>
          <p:cNvPr id="30" name="Badge"/>
          <p:cNvSpPr/>
          <p:nvPr/>
        </p:nvSpPr>
        <p:spPr>
          <a:xfrm>
            <a:off x="4114800" y="3209544"/>
            <a:ext cx="365760" cy="365760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114800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4617720" y="3209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origin: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you …? Where are you from?</a:t>
            </a:r>
            <a:endParaRPr lang="en-US" sz="1400" dirty="0"/>
          </a:p>
        </p:txBody>
      </p:sp>
      <p:sp>
        <p:nvSpPr>
          <p:cNvPr id="33" name="Badge"/>
          <p:cNvSpPr/>
          <p:nvPr/>
        </p:nvSpPr>
        <p:spPr>
          <a:xfrm>
            <a:off x="4114800" y="3685032"/>
            <a:ext cx="365760" cy="365760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11480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4617720" y="3685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goodbye: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Nice to meet you. See you later!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411480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change roles. Then use your own information!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My introduction card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card about you (30–40 words).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57200" y="1645920"/>
            <a:ext cx="82296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9" name="Box"/>
          <p:cNvSpPr/>
          <p:nvPr/>
        </p:nvSpPr>
        <p:spPr>
          <a:xfrm>
            <a:off x="731520" y="192024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0" name="Image 0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1920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My name is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212080" y="2377440"/>
            <a:ext cx="32004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651760" y="24871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from            . I'm            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651760" y="2944368"/>
            <a:ext cx="57607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2651760" y="30540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           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651760" y="3511296"/>
            <a:ext cx="57607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2651760" y="362102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you!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651760" y="4078224"/>
            <a:ext cx="57607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73152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Self-check:   ☐ I used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☐ I wrote my country with a capital letter     ☐ I used a full stop (.)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Can you do it?</a:t>
            </a:r>
            <a:endParaRPr lang="en-US" sz="3000" dirty="0"/>
          </a:p>
        </p:txBody>
      </p:sp>
      <p:sp>
        <p:nvSpPr>
          <p:cNvPr id="7" name="Box"/>
          <p:cNvSpPr/>
          <p:nvPr/>
        </p:nvSpPr>
        <p:spPr>
          <a:xfrm>
            <a:off x="457200" y="128016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people (Hello, Good morning)</a:t>
            </a:r>
            <a:endParaRPr lang="en-US" sz="1500" dirty="0"/>
          </a:p>
        </p:txBody>
      </p:sp>
      <p:sp>
        <p:nvSpPr>
          <p:cNvPr id="9" name="Pill"/>
          <p:cNvSpPr/>
          <p:nvPr/>
        </p:nvSpPr>
        <p:spPr>
          <a:xfrm>
            <a:off x="3794760" y="157276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5727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Pill"/>
          <p:cNvSpPr/>
          <p:nvPr/>
        </p:nvSpPr>
        <p:spPr>
          <a:xfrm>
            <a:off x="4361688" y="157276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61688" y="15727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3" name="Pill"/>
          <p:cNvSpPr/>
          <p:nvPr/>
        </p:nvSpPr>
        <p:spPr>
          <a:xfrm>
            <a:off x="4928616" y="157276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F4A29B"/>
          </a:solidFill>
          <a:ln w="12700">
            <a:solidFill>
              <a:srgbClr val="F4A2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28616" y="15727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and ask names</a:t>
            </a:r>
            <a:endParaRPr lang="en-US" sz="1500" dirty="0"/>
          </a:p>
        </p:txBody>
      </p:sp>
      <p:sp>
        <p:nvSpPr>
          <p:cNvPr id="16" name="Pill"/>
          <p:cNvSpPr/>
          <p:nvPr/>
        </p:nvSpPr>
        <p:spPr>
          <a:xfrm>
            <a:off x="3794760" y="235000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94760" y="235000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Pill"/>
          <p:cNvSpPr/>
          <p:nvPr/>
        </p:nvSpPr>
        <p:spPr>
          <a:xfrm>
            <a:off x="4361688" y="235000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61688" y="235000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0" name="Pill"/>
          <p:cNvSpPr/>
          <p:nvPr/>
        </p:nvSpPr>
        <p:spPr>
          <a:xfrm>
            <a:off x="4928616" y="235000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F4A29B"/>
          </a:solidFill>
          <a:ln w="12700">
            <a:solidFill>
              <a:srgbClr val="F4A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28616" y="235000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where I'm from and what I do</a:t>
            </a:r>
            <a:endParaRPr lang="en-US" sz="1500" dirty="0"/>
          </a:p>
        </p:txBody>
      </p:sp>
      <p:sp>
        <p:nvSpPr>
          <p:cNvPr id="23" name="Pill"/>
          <p:cNvSpPr/>
          <p:nvPr/>
        </p:nvSpPr>
        <p:spPr>
          <a:xfrm>
            <a:off x="3794760" y="312724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94760" y="312724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Pill"/>
          <p:cNvSpPr/>
          <p:nvPr/>
        </p:nvSpPr>
        <p:spPr>
          <a:xfrm>
            <a:off x="4361688" y="312724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61688" y="312724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7" name="Pill"/>
          <p:cNvSpPr/>
          <p:nvPr/>
        </p:nvSpPr>
        <p:spPr>
          <a:xfrm>
            <a:off x="4928616" y="312724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F4A29B"/>
          </a:solidFill>
          <a:ln w="12700">
            <a:solidFill>
              <a:srgbClr val="F4A29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28616" y="312724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my name</a:t>
            </a:r>
            <a:endParaRPr lang="en-US" sz="1500" dirty="0"/>
          </a:p>
        </p:txBody>
      </p:sp>
      <p:sp>
        <p:nvSpPr>
          <p:cNvPr id="30" name="Pill"/>
          <p:cNvSpPr/>
          <p:nvPr/>
        </p:nvSpPr>
        <p:spPr>
          <a:xfrm>
            <a:off x="3794760" y="390448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94760" y="390448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Pill"/>
          <p:cNvSpPr/>
          <p:nvPr/>
        </p:nvSpPr>
        <p:spPr>
          <a:xfrm>
            <a:off x="4361688" y="390448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61688" y="390448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34" name="Pill"/>
          <p:cNvSpPr/>
          <p:nvPr/>
        </p:nvSpPr>
        <p:spPr>
          <a:xfrm>
            <a:off x="4928616" y="390448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F4A29B"/>
          </a:solidFill>
          <a:ln w="12700">
            <a:solidFill>
              <a:srgbClr val="F4A29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28616" y="390448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Box"/>
          <p:cNvSpPr/>
          <p:nvPr/>
        </p:nvSpPr>
        <p:spPr>
          <a:xfrm>
            <a:off x="5760720" y="1280160"/>
            <a:ext cx="2926080" cy="1874520"/>
          </a:xfrm>
          <a:prstGeom prst="roundRect">
            <a:avLst>
              <a:gd name="adj" fmla="val 4878"/>
            </a:avLst>
          </a:prstGeom>
          <a:solidFill>
            <a:srgbClr val="E6F3FF"/>
          </a:solidFill>
          <a:ln w="12700">
            <a:solidFill>
              <a:srgbClr val="B7D9F5"/>
            </a:solidFill>
            <a:prstDash val="solid"/>
          </a:ln>
        </p:spPr>
      </p:sp>
      <p:sp>
        <p:nvSpPr>
          <p:cNvPr id="37" name="Pill"/>
          <p:cNvSpPr/>
          <p:nvPr/>
        </p:nvSpPr>
        <p:spPr>
          <a:xfrm>
            <a:off x="5897880" y="115214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97880" y="1152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 LEARNED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3 favourite words: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17920" y="2130552"/>
            <a:ext cx="22860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594360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217920" y="2542032"/>
            <a:ext cx="22860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59436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17920" y="2953512"/>
            <a:ext cx="22860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6" name="Next unit"/>
          <p:cNvSpPr/>
          <p:nvPr/>
        </p:nvSpPr>
        <p:spPr>
          <a:xfrm>
            <a:off x="5760720" y="333756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4360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2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94360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are you from?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 key</a:t>
            </a:r>
            <a:endParaRPr lang="en-US" sz="3000" dirty="0"/>
          </a:p>
        </p:txBody>
      </p:sp>
      <p:sp>
        <p:nvSpPr>
          <p:cNvPr id="7" name="Box"/>
          <p:cNvSpPr/>
          <p:nvPr/>
        </p:nvSpPr>
        <p:spPr>
          <a:xfrm>
            <a:off x="457200" y="1234440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34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23444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 · 2 d · 3 a · 4 c</a:t>
            </a:r>
            <a:endParaRPr lang="en-US" sz="1300" dirty="0"/>
          </a:p>
        </p:txBody>
      </p:sp>
      <p:sp>
        <p:nvSpPr>
          <p:cNvPr id="10" name="Box"/>
          <p:cNvSpPr/>
          <p:nvPr/>
        </p:nvSpPr>
        <p:spPr>
          <a:xfrm>
            <a:off x="457200" y="1618488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6184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 / 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161848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 · 2 T · 3 T · 4 F  /  A teacher · São Paulo (Brazil) · No (he's Canadian)</a:t>
            </a:r>
            <a:endParaRPr lang="en-US" sz="1300" dirty="0"/>
          </a:p>
        </p:txBody>
      </p:sp>
      <p:sp>
        <p:nvSpPr>
          <p:cNvPr id="13" name="Box"/>
          <p:cNvSpPr/>
          <p:nvPr/>
        </p:nvSpPr>
        <p:spPr>
          <a:xfrm>
            <a:off x="457200" y="2002536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0025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200253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· Yuki · Ana</a:t>
            </a:r>
            <a:endParaRPr lang="en-US" sz="1300" dirty="0"/>
          </a:p>
        </p:txBody>
      </p:sp>
      <p:sp>
        <p:nvSpPr>
          <p:cNvPr id="16" name="Box"/>
          <p:cNvSpPr/>
          <p:nvPr/>
        </p:nvSpPr>
        <p:spPr>
          <a:xfrm>
            <a:off x="457200" y="2386584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3865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238658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doctor · 2 teacher · 3 engineer · 4 student</a:t>
            </a:r>
            <a:endParaRPr lang="en-US" sz="1300" dirty="0"/>
          </a:p>
        </p:txBody>
      </p:sp>
      <p:sp>
        <p:nvSpPr>
          <p:cNvPr id="19" name="Box"/>
          <p:cNvSpPr/>
          <p:nvPr/>
        </p:nvSpPr>
        <p:spPr>
          <a:xfrm>
            <a:off x="457200" y="2770632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770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Gaps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27706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am · 2 are · 3 Are · 4 am · 5 'm not · 6 aren't</a:t>
            </a:r>
            <a:endParaRPr lang="en-US" sz="1300" dirty="0"/>
          </a:p>
        </p:txBody>
      </p:sp>
      <p:sp>
        <p:nvSpPr>
          <p:cNvPr id="22" name="Box"/>
          <p:cNvSpPr/>
          <p:nvPr/>
        </p:nvSpPr>
        <p:spPr>
          <a:xfrm>
            <a:off x="457200" y="3154680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154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Order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315468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is Ana. / Are you Brazilian? / I'm from Canada. / Nice to meet you.</a:t>
            </a:r>
            <a:endParaRPr lang="en-US" sz="1300" dirty="0"/>
          </a:p>
        </p:txBody>
      </p:sp>
      <p:sp>
        <p:nvSpPr>
          <p:cNvPr id="25" name="Box"/>
          <p:cNvSpPr/>
          <p:nvPr/>
        </p:nvSpPr>
        <p:spPr>
          <a:xfrm>
            <a:off x="457200" y="3538728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538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Rewrite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35387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 student? / I'm not a doctor. / Are you from Japan? / You aren't (You're not) Tom.</a:t>
            </a:r>
            <a:endParaRPr lang="en-US" sz="1300" dirty="0"/>
          </a:p>
        </p:txBody>
      </p:sp>
      <p:sp>
        <p:nvSpPr>
          <p:cNvPr id="28" name="Box"/>
          <p:cNvSpPr/>
          <p:nvPr/>
        </p:nvSpPr>
        <p:spPr>
          <a:xfrm>
            <a:off x="457200" y="3922776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227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Listening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392277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Carlos, Brazil · 2 Emma, England · 3 Yuki, Japan</a:t>
            </a:r>
            <a:endParaRPr lang="en-US" sz="1300" dirty="0"/>
          </a:p>
        </p:txBody>
      </p:sp>
      <p:sp>
        <p:nvSpPr>
          <p:cNvPr id="31" name="Box"/>
          <p:cNvSpPr/>
          <p:nvPr/>
        </p:nvSpPr>
        <p:spPr>
          <a:xfrm>
            <a:off x="457200" y="4306824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43068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Circle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430682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 · 2 b · 3 a · 4 c · 5 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457200" y="2743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04672" y="274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Audio script</a:t>
            </a:r>
            <a:endParaRPr lang="en-US" sz="3000" dirty="0"/>
          </a:p>
        </p:txBody>
      </p:sp>
      <p:sp>
        <p:nvSpPr>
          <p:cNvPr id="7" name="Box"/>
          <p:cNvSpPr/>
          <p:nvPr/>
        </p:nvSpPr>
        <p:spPr>
          <a:xfrm>
            <a:off x="457200" y="132588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Pill"/>
          <p:cNvSpPr/>
          <p:nvPr/>
        </p:nvSpPr>
        <p:spPr>
          <a:xfrm>
            <a:off x="594360" y="119786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197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LISTENING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459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Good evening! I'm Carlos. I'm from Brazil. C-A-R-L-O-S.
</a:t>
            </a:r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Hi! I'm Emma, E-M-M-A. I'm from England.
</a:t>
            </a:r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Hello! My name's Yuki, Y-U-K-I. I'm from Japan. See you later!</a:t>
            </a:r>
            <a:endParaRPr lang="en-US" sz="1400" dirty="0"/>
          </a:p>
        </p:txBody>
      </p:sp>
      <p:sp>
        <p:nvSpPr>
          <p:cNvPr id="11" name="Box"/>
          <p:cNvSpPr/>
          <p:nvPr/>
        </p:nvSpPr>
        <p:spPr>
          <a:xfrm>
            <a:off x="4663440" y="132588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Pill"/>
          <p:cNvSpPr/>
          <p:nvPr/>
        </p:nvSpPr>
        <p:spPr>
          <a:xfrm>
            <a:off x="4800600" y="119786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197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DIALOGUE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áudios 1.1 a 1.6 reproduzem o diálogo, as leituras, o vocabulário e o alfabeto desta unidade.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Sugestão: grave a sua voz (ou use um app de texto para fala) lendo cada bloco duas vezes: devagar e em velocidade natural.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The English Skyrocket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Raul Pivoto</dc:creator>
  <cp:lastModifiedBy>Raul Pivoto</cp:lastModifiedBy>
  <cp:revision>1</cp:revision>
  <dcterms:created xsi:type="dcterms:W3CDTF">2026-10-09T12:18:19Z</dcterms:created>
  <dcterms:modified xsi:type="dcterms:W3CDTF">2026-10-09T12:18:19Z</dcterms:modified>
</cp:coreProperties>
</file>