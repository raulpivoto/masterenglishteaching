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 1 · Unit 1. Receba o aluno com um sorriso e diga: 'Hello! Welcome!'. Explique que, ao final, ele vai conseguir se apresentar em inglês. Tempo total: cerca de 135 minutos (pode ser dividido em 2 aulas).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com o aluno em português. No fim da unidade ele volta a esta página e marca o que já consegue fazer.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ordem da aula. Todas as unidades do Book 1 seguem exatamente esta sequência: o aluno sempre sabe o que vem a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ao aluno que diga em voz alta cada cumprimento. Pergunte: 'What time is it now?' e deixe-o escolher o cumprimento certo. Obs.: 'Good night' é usado ao se despedir à noite, não ao chegar.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Toque o áudio (ou leia em voz alta) duas vezes. 1ª vez: só ouvir. 2ª vez: repetir cada fala. Depois, o aluno lê como Ana e você como Tom — e troquem os papéis. Dica de pronúncia: 'I'm' soa como 'áim'.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1 F · 2 T · 3 T · 4 F. Peça que o aluno corrija as falsas: Tom is Canadian. / Ana is a student.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cada palavra e peça ao aluno que repita (drill coral). Depois cubra a coluna do meio e peça a tradução. 'Good evening' é usado ao chegar à noite; 'Good night' só ao se despedir.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em inglês, nacionalidades são escritas com letra maiúscula (Brazilian, Canadian). Peça ao aluno que diga seu país e sua profissão: 'I'm from Brazil. I'm a manager.'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pronúncia ao lado é uma aproximação em português; a prática com áudio é essencial. Letras de vogais em destaque (A, E, I, O, U). Atividade: o aluno soletra o próprio nome, depois o sobrenome e o e-mail ('at' = @, 'dot' = 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contraste com o português: 'Sou Ana' tem o sujeito escondido no verbo; em inglês o sujeito (I, you) é obrigatório. Faça um drill: diga 'I' e o aluno completa com 'am…'; diga 'you' e ele completa 'are…'.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'I amn't' não existe. Use sempre 'I'm not'. Com 'you', as duas formas são corretas: 'You aren't' ou 'You're not'. Faça um drill de perguntas rápidas: 'Are you a teacher?' — o aluno responde só com 'Yes, I am.' ou 'No, I'm not.'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são os erros mais comuns de brasileiros nesta unidade. Peça ao aluno que leia a versão errada e corrija em voz alta antes de revelar a versão certa. Culture Corner: em inglês, 'How are you?' é um cumprimento; ninguém espera uma resposta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as palavras do quadro. Gabarito no fim do capítulo: 1 am · 2 are · 3 Are · 4 am · 5 'm not · 6 aren't.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My name is Ana. / Are you Brazilian? / I'm from Canada. / Nice to meet you. Lembre ao aluno de começar com letra maiúscula e terminar com ponto ou interrogação.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Gabarito: 1 Are you a student? · 2 I'm not a doctor. · 3 Are you from Japan? · 4 You aren't Tom. (ou You're not Tom.)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o aluno praticar 2 vezes. Na 1ª, com as frases à vista; na 2ª, sem olhar. Corrija só os erros que atrapalham a comunicação e use o checklist de autoavaliação. Se o aluno estiver sozinho, o professor faz o papel do colega.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o aluno escreva à mão ou digite. Depois ele lê o cartão em voz alta. Dica: o texto de cima serve como modelo; incentive-o a acrescentar mais uma informação (idade, cidade).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ao aluno para marcar ✓ (consigo), ~ (mais ou menos) ou ✗ (ainda não). Para os itens com ~ ou ✗, sugira rever a seção correspondente em casa. Tarefa: gravar um áudio de 30 segundos se apresentando.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Gabarito completo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017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017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ENGLISH SKYROCKET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kyrocket arrow"/>
          <p:cNvSpPr/>
          <p:nvPr/>
        </p:nvSpPr>
        <p:spPr>
          <a:xfrm>
            <a:off x="274320" y="365760"/>
            <a:ext cx="3108960" cy="4754880"/>
          </a:xfrm>
          <a:prstGeom prst="uturnArrow">
            <a:avLst/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0" y="320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ENGLISH SKYROCKET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1 · LEVEL A1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234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6459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HELLO! NICE TO MEET YOU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246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Cumprimentar e se apresentar · verbo to be (I / you) · alfabeto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4434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RAUL PIVOTO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OBJETIVOS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NESTA UNIDADE, EU CONSIGO…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pic>
        <p:nvPicPr>
          <p:cNvPr id="6" name="Image 0" descr="Cumprimen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288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CUMPRIMENTAR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65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</a:t>
            </a:r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</a:t>
            </a:r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hora certa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63440" y="13716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4892040" y="1645920"/>
            <a:ext cx="731520" cy="73152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pic>
        <p:nvPicPr>
          <p:cNvPr id="11" name="Image 1" descr="Me apresen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288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 APRESENTAR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1965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meu nome e perguntar o nome de alguém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29718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685800" y="3246120"/>
            <a:ext cx="731520" cy="73152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pic>
        <p:nvPicPr>
          <p:cNvPr id="16" name="Image 2" descr="Falar de onde so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2900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FALAR DE ONDE SOU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566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meu país, minha nacionalidade e minha profissão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29718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4892040" y="3246120"/>
            <a:ext cx="731520" cy="73152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pic>
        <p:nvPicPr>
          <p:cNvPr id="21" name="Image 3" descr="Soletr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42900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SOLETRAR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566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falar o alfabeto e soletrar meu nome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DA UNIDADE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TODAY'S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7315200" cy="0"/>
          </a:xfrm>
          <a:prstGeom prst="line">
            <a:avLst/>
          </a:prstGeom>
          <a:noFill/>
          <a:ln w="25400">
            <a:solidFill>
              <a:srgbClr val="3A4E6B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640080" y="2057400"/>
            <a:ext cx="548640" cy="54864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9" name="Badge"/>
          <p:cNvSpPr/>
          <p:nvPr/>
        </p:nvSpPr>
        <p:spPr>
          <a:xfrm>
            <a:off x="1859280" y="2057400"/>
            <a:ext cx="548640" cy="548640"/>
          </a:xfrm>
          <a:prstGeom prst="ellipse">
            <a:avLst/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92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849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8496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Badge"/>
          <p:cNvSpPr/>
          <p:nvPr/>
        </p:nvSpPr>
        <p:spPr>
          <a:xfrm>
            <a:off x="3078480" y="2057400"/>
            <a:ext cx="548640" cy="54864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784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8041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0416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17" name="Badge"/>
          <p:cNvSpPr/>
          <p:nvPr/>
        </p:nvSpPr>
        <p:spPr>
          <a:xfrm>
            <a:off x="4297680" y="2057400"/>
            <a:ext cx="548640" cy="548640"/>
          </a:xfrm>
          <a:prstGeom prst="ellipse">
            <a:avLst/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21" name="Badge"/>
          <p:cNvSpPr/>
          <p:nvPr/>
        </p:nvSpPr>
        <p:spPr>
          <a:xfrm>
            <a:off x="5516880" y="2057400"/>
            <a:ext cx="548640" cy="54864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168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2425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24256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25" name="Badge"/>
          <p:cNvSpPr/>
          <p:nvPr/>
        </p:nvSpPr>
        <p:spPr>
          <a:xfrm>
            <a:off x="6736080" y="2057400"/>
            <a:ext cx="548640" cy="548640"/>
          </a:xfrm>
          <a:prstGeom prst="ellipse">
            <a:avLst/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360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617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6176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29" name="Badge"/>
          <p:cNvSpPr/>
          <p:nvPr/>
        </p:nvSpPr>
        <p:spPr>
          <a:xfrm>
            <a:off x="7955280" y="2057400"/>
            <a:ext cx="548640" cy="54864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552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cerca de 135 minutos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1 · WARM-UP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HELLO!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cumprimento você usa em cada horário? Leia em voz alta.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1645920"/>
            <a:ext cx="1920240" cy="1965960"/>
          </a:xfrm>
          <a:prstGeom prst="roundRect">
            <a:avLst>
              <a:gd name="adj" fmla="val 476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1051560" y="1828800"/>
            <a:ext cx="731520" cy="73152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pic>
        <p:nvPicPr>
          <p:cNvPr id="7" name="Image 0" descr="Good mo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0116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697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 – 11:59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2560320" y="1645920"/>
            <a:ext cx="1920240" cy="1965960"/>
          </a:xfrm>
          <a:prstGeom prst="roundRect">
            <a:avLst>
              <a:gd name="adj" fmla="val 476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154680" y="1828800"/>
            <a:ext cx="731520" cy="731520"/>
          </a:xfrm>
          <a:prstGeom prst="ellipse">
            <a:avLst/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pic>
        <p:nvPicPr>
          <p:cNvPr id="12" name="Image 1" descr="Good aftern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51760" y="2697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afternoon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65176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 – 17:59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663440" y="1645920"/>
            <a:ext cx="1920240" cy="1965960"/>
          </a:xfrm>
          <a:prstGeom prst="roundRect">
            <a:avLst>
              <a:gd name="adj" fmla="val 476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5257800" y="1828800"/>
            <a:ext cx="731520" cy="731520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17" name="Image 2" descr="Good eve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0116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2697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evening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75488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 – 21:59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6766560" y="1645920"/>
            <a:ext cx="1920240" cy="1965960"/>
          </a:xfrm>
          <a:prstGeom prst="roundRect">
            <a:avLst>
              <a:gd name="adj" fmla="val 476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1" name="Icon circle"/>
          <p:cNvSpPr/>
          <p:nvPr/>
        </p:nvSpPr>
        <p:spPr>
          <a:xfrm>
            <a:off x="7360920" y="1828800"/>
            <a:ext cx="731520" cy="731520"/>
          </a:xfrm>
          <a:prstGeom prst="ellipse">
            <a:avLst/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pic>
        <p:nvPicPr>
          <p:cNvPr id="22" name="Image 3" descr="Good n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01168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858000" y="2697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dormir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é com você: diga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o professor e responda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name is 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2 · DIALOGUE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MEETING FOR THE FIRST TIME</a:t>
            </a:r>
            <a:endParaRPr lang="en-US" sz="3000" dirty="0"/>
          </a:p>
        </p:txBody>
      </p:sp>
      <p:sp>
        <p:nvSpPr>
          <p:cNvPr id="4" name="Badge"/>
          <p:cNvSpPr/>
          <p:nvPr/>
        </p:nvSpPr>
        <p:spPr>
          <a:xfrm>
            <a:off x="457200" y="1234440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600" dirty="0"/>
          </a:p>
        </p:txBody>
      </p:sp>
      <p:sp>
        <p:nvSpPr>
          <p:cNvPr id="6" name="Bubble"/>
          <p:cNvSpPr/>
          <p:nvPr/>
        </p:nvSpPr>
        <p:spPr>
          <a:xfrm>
            <a:off x="1005840" y="123444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234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I'm Tom. What's your name?</a:t>
            </a:r>
            <a:endParaRPr lang="en-US" sz="1500" dirty="0"/>
          </a:p>
        </p:txBody>
      </p:sp>
      <p:sp>
        <p:nvSpPr>
          <p:cNvPr id="8" name="Badge"/>
          <p:cNvSpPr/>
          <p:nvPr/>
        </p:nvSpPr>
        <p:spPr>
          <a:xfrm>
            <a:off x="8229600" y="1783080"/>
            <a:ext cx="420624" cy="420624"/>
          </a:xfrm>
          <a:prstGeom prst="ellipse">
            <a:avLst/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Bubble"/>
          <p:cNvSpPr/>
          <p:nvPr/>
        </p:nvSpPr>
        <p:spPr>
          <a:xfrm>
            <a:off x="2651760" y="178308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Hi, Tom! My name's Ana. Nice to meet you.</a:t>
            </a:r>
            <a:endParaRPr lang="en-US" sz="1500" dirty="0"/>
          </a:p>
        </p:txBody>
      </p:sp>
      <p:sp>
        <p:nvSpPr>
          <p:cNvPr id="12" name="Badge"/>
          <p:cNvSpPr/>
          <p:nvPr/>
        </p:nvSpPr>
        <p:spPr>
          <a:xfrm>
            <a:off x="457200" y="2331720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600" dirty="0"/>
          </a:p>
        </p:txBody>
      </p:sp>
      <p:sp>
        <p:nvSpPr>
          <p:cNvPr id="14" name="Bubble"/>
          <p:cNvSpPr/>
          <p:nvPr/>
        </p:nvSpPr>
        <p:spPr>
          <a:xfrm>
            <a:off x="1005840" y="233172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23317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you, too. Are you Brazilian?</a:t>
            </a:r>
            <a:endParaRPr lang="en-US" sz="1500" dirty="0"/>
          </a:p>
        </p:txBody>
      </p:sp>
      <p:sp>
        <p:nvSpPr>
          <p:cNvPr id="16" name="Badge"/>
          <p:cNvSpPr/>
          <p:nvPr/>
        </p:nvSpPr>
        <p:spPr>
          <a:xfrm>
            <a:off x="8229600" y="2880360"/>
            <a:ext cx="420624" cy="420624"/>
          </a:xfrm>
          <a:prstGeom prst="ellipse">
            <a:avLst/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18" name="Bubble"/>
          <p:cNvSpPr/>
          <p:nvPr/>
        </p:nvSpPr>
        <p:spPr>
          <a:xfrm>
            <a:off x="2651760" y="288036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34640" y="2880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am. I'm from São Paulo. And you?</a:t>
            </a:r>
            <a:endParaRPr lang="en-US" sz="1500" dirty="0"/>
          </a:p>
        </p:txBody>
      </p:sp>
      <p:sp>
        <p:nvSpPr>
          <p:cNvPr id="20" name="Badge"/>
          <p:cNvSpPr/>
          <p:nvPr/>
        </p:nvSpPr>
        <p:spPr>
          <a:xfrm>
            <a:off x="457200" y="3429000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600" dirty="0"/>
          </a:p>
        </p:txBody>
      </p:sp>
      <p:sp>
        <p:nvSpPr>
          <p:cNvPr id="22" name="Bubble"/>
          <p:cNvSpPr/>
          <p:nvPr/>
        </p:nvSpPr>
        <p:spPr>
          <a:xfrm>
            <a:off x="1005840" y="342900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88720" y="3429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from Canada. I'm a teacher.</a:t>
            </a:r>
            <a:endParaRPr lang="en-US" sz="1500" dirty="0"/>
          </a:p>
        </p:txBody>
      </p:sp>
      <p:sp>
        <p:nvSpPr>
          <p:cNvPr id="24" name="Badge"/>
          <p:cNvSpPr/>
          <p:nvPr/>
        </p:nvSpPr>
        <p:spPr>
          <a:xfrm>
            <a:off x="8229600" y="3977640"/>
            <a:ext cx="420624" cy="420624"/>
          </a:xfrm>
          <a:prstGeom prst="ellipse">
            <a:avLst/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6" name="Bubble"/>
          <p:cNvSpPr/>
          <p:nvPr/>
        </p:nvSpPr>
        <p:spPr>
          <a:xfrm>
            <a:off x="2651760" y="397764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834640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Great! I'm a student. See you later!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2 · DIALOGUE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TRUE OR FALSE?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 o diálogo de novo. Escreva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(true) ou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(false).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1691640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" name="Badge"/>
          <p:cNvSpPr/>
          <p:nvPr/>
        </p:nvSpPr>
        <p:spPr>
          <a:xfrm>
            <a:off x="594360" y="1783080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91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Brazilian.</a:t>
            </a:r>
            <a:endParaRPr lang="en-US" sz="1700" dirty="0"/>
          </a:p>
        </p:txBody>
      </p:sp>
      <p:sp>
        <p:nvSpPr>
          <p:cNvPr id="9" name="Answer box"/>
          <p:cNvSpPr/>
          <p:nvPr/>
        </p:nvSpPr>
        <p:spPr>
          <a:xfrm>
            <a:off x="7315200" y="1783080"/>
            <a:ext cx="1188720" cy="365760"/>
          </a:xfrm>
          <a:prstGeom prst="roundRect">
            <a:avLst>
              <a:gd name="adj" fmla="val 25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10" name="Card"/>
          <p:cNvSpPr/>
          <p:nvPr/>
        </p:nvSpPr>
        <p:spPr>
          <a:xfrm>
            <a:off x="457200" y="2350008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594360" y="2441448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500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from São Paulo.</a:t>
            </a:r>
            <a:endParaRPr lang="en-US" sz="1700" dirty="0"/>
          </a:p>
        </p:txBody>
      </p:sp>
      <p:sp>
        <p:nvSpPr>
          <p:cNvPr id="14" name="Answer box"/>
          <p:cNvSpPr/>
          <p:nvPr/>
        </p:nvSpPr>
        <p:spPr>
          <a:xfrm>
            <a:off x="7315200" y="2441448"/>
            <a:ext cx="1188720" cy="365760"/>
          </a:xfrm>
          <a:prstGeom prst="roundRect">
            <a:avLst>
              <a:gd name="adj" fmla="val 25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15" name="Card"/>
          <p:cNvSpPr/>
          <p:nvPr/>
        </p:nvSpPr>
        <p:spPr>
          <a:xfrm>
            <a:off x="457200" y="3008376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594360" y="3099816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099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is a teacher.</a:t>
            </a:r>
            <a:endParaRPr lang="en-US" sz="1700" dirty="0"/>
          </a:p>
        </p:txBody>
      </p:sp>
      <p:sp>
        <p:nvSpPr>
          <p:cNvPr id="19" name="Answer box"/>
          <p:cNvSpPr/>
          <p:nvPr/>
        </p:nvSpPr>
        <p:spPr>
          <a:xfrm>
            <a:off x="7315200" y="3099816"/>
            <a:ext cx="1188720" cy="365760"/>
          </a:xfrm>
          <a:prstGeom prst="roundRect">
            <a:avLst>
              <a:gd name="adj" fmla="val 25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20" name="Card"/>
          <p:cNvSpPr/>
          <p:nvPr/>
        </p:nvSpPr>
        <p:spPr>
          <a:xfrm>
            <a:off x="457200" y="3666744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1" name="Badge"/>
          <p:cNvSpPr/>
          <p:nvPr/>
        </p:nvSpPr>
        <p:spPr>
          <a:xfrm>
            <a:off x="594360" y="3758184"/>
            <a:ext cx="365760" cy="36576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6674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a teacher.</a:t>
            </a:r>
            <a:endParaRPr lang="en-US" sz="1700" dirty="0"/>
          </a:p>
        </p:txBody>
      </p:sp>
      <p:sp>
        <p:nvSpPr>
          <p:cNvPr id="24" name="Answer box"/>
          <p:cNvSpPr/>
          <p:nvPr/>
        </p:nvSpPr>
        <p:spPr>
          <a:xfrm>
            <a:off x="7315200" y="3758184"/>
            <a:ext cx="1188720" cy="365760"/>
          </a:xfrm>
          <a:prstGeom prst="roundRect">
            <a:avLst>
              <a:gd name="adj" fmla="val 25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Corrija as frases falsas: *Tom is Canadian.*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3 · VOCABULARY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GREETINGS &amp; GOODBYES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234440"/>
            <a:ext cx="8229600" cy="3429000"/>
          </a:xfrm>
          <a:prstGeom prst="roundRect">
            <a:avLst>
              <a:gd name="adj" fmla="val 2667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Row tint"/>
          <p:cNvSpPr/>
          <p:nvPr/>
        </p:nvSpPr>
        <p:spPr>
          <a:xfrm>
            <a:off x="548640" y="1325880"/>
            <a:ext cx="8046720" cy="393192"/>
          </a:xfrm>
          <a:prstGeom prst="rect">
            <a:avLst/>
          </a:prstGeom>
          <a:solidFill>
            <a:srgbClr val="3A4E6B">
              <a:alpha val="45000"/>
            </a:srgbClr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325880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Hi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325880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Olá / Oi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2588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Hi, Tom!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41932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741932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74193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morning, Ana.</a:t>
            </a:r>
            <a:endParaRPr lang="en-US" sz="1400" dirty="0"/>
          </a:p>
        </p:txBody>
      </p:sp>
      <p:sp>
        <p:nvSpPr>
          <p:cNvPr id="12" name="Row tint"/>
          <p:cNvSpPr/>
          <p:nvPr/>
        </p:nvSpPr>
        <p:spPr>
          <a:xfrm>
            <a:off x="548640" y="2157984"/>
            <a:ext cx="8046720" cy="393192"/>
          </a:xfrm>
          <a:prstGeom prst="rect">
            <a:avLst/>
          </a:prstGeom>
          <a:solidFill>
            <a:srgbClr val="3A4E6B">
              <a:alpha val="45000"/>
            </a:srgbClr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157984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afternoon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2157984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tarde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215798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afternoon!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2574036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evening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574036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noite (chegada)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57403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evening, everyone.</a:t>
            </a:r>
            <a:endParaRPr lang="en-US" sz="1400" dirty="0"/>
          </a:p>
        </p:txBody>
      </p:sp>
      <p:sp>
        <p:nvSpPr>
          <p:cNvPr id="19" name="Row tint"/>
          <p:cNvSpPr/>
          <p:nvPr/>
        </p:nvSpPr>
        <p:spPr>
          <a:xfrm>
            <a:off x="548640" y="2990088"/>
            <a:ext cx="8046720" cy="393192"/>
          </a:xfrm>
          <a:prstGeom prst="rect">
            <a:avLst/>
          </a:prstGeom>
          <a:solidFill>
            <a:srgbClr val="3A4E6B">
              <a:alpha val="45000"/>
            </a:srgbClr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2990088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 / Bye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2990088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Tchau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9900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Bye, see you!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406140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later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3406140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mais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760720" y="340614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later!</a:t>
            </a:r>
            <a:endParaRPr lang="en-US" sz="1400" dirty="0"/>
          </a:p>
        </p:txBody>
      </p:sp>
      <p:sp>
        <p:nvSpPr>
          <p:cNvPr id="26" name="Row tint"/>
          <p:cNvSpPr/>
          <p:nvPr/>
        </p:nvSpPr>
        <p:spPr>
          <a:xfrm>
            <a:off x="548640" y="3822192"/>
            <a:ext cx="8046720" cy="393192"/>
          </a:xfrm>
          <a:prstGeom prst="rect">
            <a:avLst/>
          </a:prstGeom>
          <a:solidFill>
            <a:srgbClr val="3A4E6B">
              <a:alpha val="45000"/>
            </a:srgbClr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3822192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383280" y="3822192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Prazer em conhecer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7607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238244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/ Thank you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383280" y="4238244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favor / Obrigado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423824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 Tom.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3 · VOCABULARY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COUNTRIES &amp; JOBS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234440"/>
            <a:ext cx="4754880" cy="3429000"/>
          </a:xfrm>
          <a:prstGeom prst="roundRect">
            <a:avLst>
              <a:gd name="adj" fmla="val 2667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Card"/>
          <p:cNvSpPr/>
          <p:nvPr/>
        </p:nvSpPr>
        <p:spPr>
          <a:xfrm>
            <a:off x="5394960" y="1234440"/>
            <a:ext cx="3291840" cy="3429000"/>
          </a:xfrm>
          <a:prstGeom prst="roundRect">
            <a:avLst>
              <a:gd name="adj" fmla="val 2778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" name="Pill"/>
          <p:cNvSpPr/>
          <p:nvPr/>
        </p:nvSpPr>
        <p:spPr>
          <a:xfrm>
            <a:off x="685800" y="13716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→ NATIONALITY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83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783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783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Brazilian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240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2402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2697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31546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3154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118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611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69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069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017520" y="4069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</a:t>
            </a:r>
            <a:endParaRPr lang="en-US" sz="1600" dirty="0"/>
          </a:p>
        </p:txBody>
      </p:sp>
      <p:sp>
        <p:nvSpPr>
          <p:cNvPr id="26" name="Pill"/>
          <p:cNvSpPr/>
          <p:nvPr/>
        </p:nvSpPr>
        <p:spPr>
          <a:xfrm>
            <a:off x="5623560" y="137160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23560" y="13716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62356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99516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professor(a)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2331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623560" y="2880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2880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médico(a)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623560" y="3429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3429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engenheiro(a)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23560" y="3977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3 · VOCABULARY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ALPHABET</a:t>
            </a:r>
            <a:endParaRPr lang="en-US" sz="3000" dirty="0"/>
          </a:p>
        </p:txBody>
      </p:sp>
      <p:sp>
        <p:nvSpPr>
          <p:cNvPr id="4" name="Letter"/>
          <p:cNvSpPr/>
          <p:nvPr/>
        </p:nvSpPr>
        <p:spPr>
          <a:xfrm>
            <a:off x="4572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êi</a:t>
            </a:r>
            <a:endParaRPr lang="en-US" sz="1100" dirty="0"/>
          </a:p>
        </p:txBody>
      </p:sp>
      <p:sp>
        <p:nvSpPr>
          <p:cNvPr id="7" name="Letter"/>
          <p:cNvSpPr/>
          <p:nvPr/>
        </p:nvSpPr>
        <p:spPr>
          <a:xfrm>
            <a:off x="13716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" dirty="0"/>
          </a:p>
        </p:txBody>
      </p:sp>
      <p:sp>
        <p:nvSpPr>
          <p:cNvPr id="10" name="Letter"/>
          <p:cNvSpPr/>
          <p:nvPr/>
        </p:nvSpPr>
        <p:spPr>
          <a:xfrm>
            <a:off x="22860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endParaRPr lang="en-US" sz="1100" dirty="0"/>
          </a:p>
        </p:txBody>
      </p:sp>
      <p:sp>
        <p:nvSpPr>
          <p:cNvPr id="13" name="Letter"/>
          <p:cNvSpPr/>
          <p:nvPr/>
        </p:nvSpPr>
        <p:spPr>
          <a:xfrm>
            <a:off x="32004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</a:t>
            </a:r>
            <a:endParaRPr lang="en-US" sz="1100" dirty="0"/>
          </a:p>
        </p:txBody>
      </p:sp>
      <p:sp>
        <p:nvSpPr>
          <p:cNvPr id="16" name="Letter"/>
          <p:cNvSpPr/>
          <p:nvPr/>
        </p:nvSpPr>
        <p:spPr>
          <a:xfrm>
            <a:off x="41148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148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19" name="Letter"/>
          <p:cNvSpPr/>
          <p:nvPr/>
        </p:nvSpPr>
        <p:spPr>
          <a:xfrm>
            <a:off x="50292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éf</a:t>
            </a:r>
            <a:endParaRPr lang="en-US" sz="1100" dirty="0"/>
          </a:p>
        </p:txBody>
      </p:sp>
      <p:sp>
        <p:nvSpPr>
          <p:cNvPr id="22" name="Letter"/>
          <p:cNvSpPr/>
          <p:nvPr/>
        </p:nvSpPr>
        <p:spPr>
          <a:xfrm>
            <a:off x="59436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djí</a:t>
            </a:r>
            <a:endParaRPr lang="en-US" sz="1100" dirty="0"/>
          </a:p>
        </p:txBody>
      </p:sp>
      <p:sp>
        <p:nvSpPr>
          <p:cNvPr id="25" name="Letter"/>
          <p:cNvSpPr/>
          <p:nvPr/>
        </p:nvSpPr>
        <p:spPr>
          <a:xfrm>
            <a:off x="68580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êitch</a:t>
            </a:r>
            <a:endParaRPr lang="en-US" sz="1100" dirty="0"/>
          </a:p>
        </p:txBody>
      </p:sp>
      <p:sp>
        <p:nvSpPr>
          <p:cNvPr id="28" name="Letter"/>
          <p:cNvSpPr/>
          <p:nvPr/>
        </p:nvSpPr>
        <p:spPr>
          <a:xfrm>
            <a:off x="7772400" y="123444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12801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0" y="173736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31" name="Letter"/>
          <p:cNvSpPr/>
          <p:nvPr/>
        </p:nvSpPr>
        <p:spPr>
          <a:xfrm>
            <a:off x="4572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djêi</a:t>
            </a:r>
            <a:endParaRPr lang="en-US" sz="1100" dirty="0"/>
          </a:p>
        </p:txBody>
      </p:sp>
      <p:sp>
        <p:nvSpPr>
          <p:cNvPr id="34" name="Letter"/>
          <p:cNvSpPr/>
          <p:nvPr/>
        </p:nvSpPr>
        <p:spPr>
          <a:xfrm>
            <a:off x="13716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3716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kêi</a:t>
            </a:r>
            <a:endParaRPr lang="en-US" sz="1100" dirty="0"/>
          </a:p>
        </p:txBody>
      </p:sp>
      <p:sp>
        <p:nvSpPr>
          <p:cNvPr id="37" name="Letter"/>
          <p:cNvSpPr/>
          <p:nvPr/>
        </p:nvSpPr>
        <p:spPr>
          <a:xfrm>
            <a:off x="22860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2860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22860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</a:t>
            </a:r>
            <a:endParaRPr lang="en-US" sz="1100" dirty="0"/>
          </a:p>
        </p:txBody>
      </p:sp>
      <p:sp>
        <p:nvSpPr>
          <p:cNvPr id="40" name="Letter"/>
          <p:cNvSpPr/>
          <p:nvPr/>
        </p:nvSpPr>
        <p:spPr>
          <a:xfrm>
            <a:off x="32004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</a:t>
            </a:r>
            <a:endParaRPr lang="en-US" sz="2600" dirty="0"/>
          </a:p>
        </p:txBody>
      </p:sp>
      <p:sp>
        <p:nvSpPr>
          <p:cNvPr id="42" name="Text 40"/>
          <p:cNvSpPr txBox="1"/>
          <p:nvPr/>
        </p:nvSpPr>
        <p:spPr>
          <a:xfrm>
            <a:off x="32004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</a:t>
            </a:r>
            <a:endParaRPr lang="en-US" sz="1100" dirty="0"/>
          </a:p>
        </p:txBody>
      </p:sp>
      <p:sp>
        <p:nvSpPr>
          <p:cNvPr id="43" name="Letter"/>
          <p:cNvSpPr/>
          <p:nvPr/>
        </p:nvSpPr>
        <p:spPr>
          <a:xfrm>
            <a:off x="41148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1148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</a:t>
            </a:r>
            <a:endParaRPr lang="en-US" sz="2600" dirty="0"/>
          </a:p>
        </p:txBody>
      </p:sp>
      <p:sp>
        <p:nvSpPr>
          <p:cNvPr id="45" name="Text 43"/>
          <p:cNvSpPr txBox="1"/>
          <p:nvPr/>
        </p:nvSpPr>
        <p:spPr>
          <a:xfrm>
            <a:off x="41148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</a:t>
            </a:r>
            <a:endParaRPr lang="en-US" sz="1100" dirty="0"/>
          </a:p>
        </p:txBody>
      </p:sp>
      <p:sp>
        <p:nvSpPr>
          <p:cNvPr id="46" name="Letter"/>
          <p:cNvSpPr/>
          <p:nvPr/>
        </p:nvSpPr>
        <p:spPr>
          <a:xfrm>
            <a:off x="50292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292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</a:t>
            </a:r>
            <a:endParaRPr lang="en-US" sz="2600" dirty="0"/>
          </a:p>
        </p:txBody>
      </p:sp>
      <p:sp>
        <p:nvSpPr>
          <p:cNvPr id="48" name="Text 46"/>
          <p:cNvSpPr txBox="1"/>
          <p:nvPr/>
        </p:nvSpPr>
        <p:spPr>
          <a:xfrm>
            <a:off x="50292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ôu</a:t>
            </a:r>
            <a:endParaRPr lang="en-US" sz="1100" dirty="0"/>
          </a:p>
        </p:txBody>
      </p:sp>
      <p:sp>
        <p:nvSpPr>
          <p:cNvPr id="49" name="Letter"/>
          <p:cNvSpPr/>
          <p:nvPr/>
        </p:nvSpPr>
        <p:spPr>
          <a:xfrm>
            <a:off x="59436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9436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</a:t>
            </a:r>
            <a:endParaRPr lang="en-US" sz="2600" dirty="0"/>
          </a:p>
        </p:txBody>
      </p:sp>
      <p:sp>
        <p:nvSpPr>
          <p:cNvPr id="51" name="Text 49"/>
          <p:cNvSpPr txBox="1"/>
          <p:nvPr/>
        </p:nvSpPr>
        <p:spPr>
          <a:xfrm>
            <a:off x="59436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</a:t>
            </a:r>
            <a:endParaRPr lang="en-US" sz="1100" dirty="0"/>
          </a:p>
        </p:txBody>
      </p:sp>
      <p:sp>
        <p:nvSpPr>
          <p:cNvPr id="52" name="Letter"/>
          <p:cNvSpPr/>
          <p:nvPr/>
        </p:nvSpPr>
        <p:spPr>
          <a:xfrm>
            <a:off x="68580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Q</a:t>
            </a:r>
            <a:endParaRPr lang="en-US" sz="2600" dirty="0"/>
          </a:p>
        </p:txBody>
      </p:sp>
      <p:sp>
        <p:nvSpPr>
          <p:cNvPr id="54" name="Text 52"/>
          <p:cNvSpPr txBox="1"/>
          <p:nvPr/>
        </p:nvSpPr>
        <p:spPr>
          <a:xfrm>
            <a:off x="68580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kiú</a:t>
            </a:r>
            <a:endParaRPr lang="en-US" sz="1100" dirty="0"/>
          </a:p>
        </p:txBody>
      </p:sp>
      <p:sp>
        <p:nvSpPr>
          <p:cNvPr id="55" name="Letter"/>
          <p:cNvSpPr/>
          <p:nvPr/>
        </p:nvSpPr>
        <p:spPr>
          <a:xfrm>
            <a:off x="7772400" y="210312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772400" y="214884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</a:t>
            </a:r>
            <a:endParaRPr lang="en-US" sz="2600" dirty="0"/>
          </a:p>
        </p:txBody>
      </p:sp>
      <p:sp>
        <p:nvSpPr>
          <p:cNvPr id="57" name="Text 55"/>
          <p:cNvSpPr txBox="1"/>
          <p:nvPr/>
        </p:nvSpPr>
        <p:spPr>
          <a:xfrm>
            <a:off x="7772400" y="260604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</a:t>
            </a:r>
            <a:endParaRPr lang="en-US" sz="1100" dirty="0"/>
          </a:p>
        </p:txBody>
      </p:sp>
      <p:sp>
        <p:nvSpPr>
          <p:cNvPr id="58" name="Letter"/>
          <p:cNvSpPr/>
          <p:nvPr/>
        </p:nvSpPr>
        <p:spPr>
          <a:xfrm>
            <a:off x="4572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</a:t>
            </a:r>
            <a:endParaRPr lang="en-US" sz="26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endParaRPr lang="en-US" sz="1100" dirty="0"/>
          </a:p>
        </p:txBody>
      </p:sp>
      <p:sp>
        <p:nvSpPr>
          <p:cNvPr id="61" name="Letter"/>
          <p:cNvSpPr/>
          <p:nvPr/>
        </p:nvSpPr>
        <p:spPr>
          <a:xfrm>
            <a:off x="13716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716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</a:t>
            </a:r>
            <a:endParaRPr lang="en-US" sz="2600" dirty="0"/>
          </a:p>
        </p:txBody>
      </p:sp>
      <p:sp>
        <p:nvSpPr>
          <p:cNvPr id="63" name="Text 61"/>
          <p:cNvSpPr txBox="1"/>
          <p:nvPr/>
        </p:nvSpPr>
        <p:spPr>
          <a:xfrm>
            <a:off x="13716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</a:t>
            </a:r>
            <a:endParaRPr lang="en-US" sz="1100" dirty="0"/>
          </a:p>
        </p:txBody>
      </p:sp>
      <p:sp>
        <p:nvSpPr>
          <p:cNvPr id="64" name="Letter"/>
          <p:cNvSpPr/>
          <p:nvPr/>
        </p:nvSpPr>
        <p:spPr>
          <a:xfrm>
            <a:off x="22860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2860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</a:t>
            </a:r>
            <a:endParaRPr lang="en-US" sz="2600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iú</a:t>
            </a:r>
            <a:endParaRPr lang="en-US" sz="1100" dirty="0"/>
          </a:p>
        </p:txBody>
      </p:sp>
      <p:sp>
        <p:nvSpPr>
          <p:cNvPr id="67" name="Letter"/>
          <p:cNvSpPr/>
          <p:nvPr/>
        </p:nvSpPr>
        <p:spPr>
          <a:xfrm>
            <a:off x="32004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2004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</a:t>
            </a:r>
            <a:endParaRPr lang="en-US" sz="2600" dirty="0"/>
          </a:p>
        </p:txBody>
      </p:sp>
      <p:sp>
        <p:nvSpPr>
          <p:cNvPr id="69" name="Text 67"/>
          <p:cNvSpPr txBox="1"/>
          <p:nvPr/>
        </p:nvSpPr>
        <p:spPr>
          <a:xfrm>
            <a:off x="32004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en-US" sz="1100" dirty="0"/>
          </a:p>
        </p:txBody>
      </p:sp>
      <p:sp>
        <p:nvSpPr>
          <p:cNvPr id="70" name="Letter"/>
          <p:cNvSpPr/>
          <p:nvPr/>
        </p:nvSpPr>
        <p:spPr>
          <a:xfrm>
            <a:off x="41148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1148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</a:t>
            </a:r>
            <a:endParaRPr lang="en-US" sz="2600" dirty="0"/>
          </a:p>
        </p:txBody>
      </p:sp>
      <p:sp>
        <p:nvSpPr>
          <p:cNvPr id="72" name="Text 70"/>
          <p:cNvSpPr txBox="1"/>
          <p:nvPr/>
        </p:nvSpPr>
        <p:spPr>
          <a:xfrm>
            <a:off x="41148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dâbliu</a:t>
            </a:r>
            <a:endParaRPr lang="en-US" sz="1100" dirty="0"/>
          </a:p>
        </p:txBody>
      </p:sp>
      <p:sp>
        <p:nvSpPr>
          <p:cNvPr id="73" name="Letter"/>
          <p:cNvSpPr/>
          <p:nvPr/>
        </p:nvSpPr>
        <p:spPr>
          <a:xfrm>
            <a:off x="50292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0292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X</a:t>
            </a:r>
            <a:endParaRPr lang="en-US" sz="2600" dirty="0"/>
          </a:p>
        </p:txBody>
      </p:sp>
      <p:sp>
        <p:nvSpPr>
          <p:cNvPr id="75" name="Text 73"/>
          <p:cNvSpPr txBox="1"/>
          <p:nvPr/>
        </p:nvSpPr>
        <p:spPr>
          <a:xfrm>
            <a:off x="50292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éks</a:t>
            </a:r>
            <a:endParaRPr lang="en-US" sz="1100" dirty="0"/>
          </a:p>
        </p:txBody>
      </p:sp>
      <p:sp>
        <p:nvSpPr>
          <p:cNvPr id="76" name="Letter"/>
          <p:cNvSpPr/>
          <p:nvPr/>
        </p:nvSpPr>
        <p:spPr>
          <a:xfrm>
            <a:off x="59436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9436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</a:t>
            </a:r>
            <a:endParaRPr lang="en-US" sz="2600" dirty="0"/>
          </a:p>
        </p:txBody>
      </p:sp>
      <p:sp>
        <p:nvSpPr>
          <p:cNvPr id="78" name="Text 76"/>
          <p:cNvSpPr txBox="1"/>
          <p:nvPr/>
        </p:nvSpPr>
        <p:spPr>
          <a:xfrm>
            <a:off x="59436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uái</a:t>
            </a:r>
            <a:endParaRPr lang="en-US" sz="1100" dirty="0"/>
          </a:p>
        </p:txBody>
      </p:sp>
      <p:sp>
        <p:nvSpPr>
          <p:cNvPr id="79" name="Letter"/>
          <p:cNvSpPr/>
          <p:nvPr/>
        </p:nvSpPr>
        <p:spPr>
          <a:xfrm>
            <a:off x="68580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858000" y="301752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Z</a:t>
            </a:r>
            <a:endParaRPr lang="en-US" sz="2600" dirty="0"/>
          </a:p>
        </p:txBody>
      </p:sp>
      <p:sp>
        <p:nvSpPr>
          <p:cNvPr id="81" name="Text 79"/>
          <p:cNvSpPr txBox="1"/>
          <p:nvPr/>
        </p:nvSpPr>
        <p:spPr>
          <a:xfrm>
            <a:off x="6858000" y="34747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</a:t>
            </a:r>
            <a:endParaRPr lang="en-US" sz="1100" dirty="0"/>
          </a:p>
        </p:txBody>
      </p:sp>
      <p:sp>
        <p:nvSpPr>
          <p:cNvPr id="82" name="Your turn"/>
          <p:cNvSpPr/>
          <p:nvPr/>
        </p:nvSpPr>
        <p:spPr>
          <a:xfrm>
            <a:off x="7772400" y="2971800"/>
            <a:ext cx="841248" cy="777240"/>
          </a:xfrm>
          <a:prstGeom prst="roundRect">
            <a:avLst>
              <a:gd name="adj" fmla="val 11765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7772400" y="297180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name?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Soletrando: </a:t>
            </a:r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spell your name?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T-O-M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4 · GRAMMAR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 BE: SER / ESTAR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verbo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</a:t>
            </a:r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significa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</a:t>
            </a:r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estar</a:t>
            </a:r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Hoje usamos duas formas: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1645920"/>
            <a:ext cx="4023360" cy="1828800"/>
          </a:xfrm>
          <a:prstGeom prst="roundRect">
            <a:avLst>
              <a:gd name="adj" fmla="val 500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" name="Pill"/>
          <p:cNvSpPr/>
          <p:nvPr/>
        </p:nvSpPr>
        <p:spPr>
          <a:xfrm>
            <a:off x="685800" y="18288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288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1783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curta: I'm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468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indent="0" marL="0">
              <a:buNone/>
            </a:pPr>
            <a:r>
              <a:rPr lang="en-US" sz="17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Ana. I'm a student.</a:t>
            </a:r>
            <a:endParaRPr lang="en-US" sz="1700" dirty="0"/>
          </a:p>
        </p:txBody>
      </p:sp>
      <p:sp>
        <p:nvSpPr>
          <p:cNvPr id="11" name="Card"/>
          <p:cNvSpPr/>
          <p:nvPr/>
        </p:nvSpPr>
        <p:spPr>
          <a:xfrm>
            <a:off x="4663440" y="1645920"/>
            <a:ext cx="4023360" cy="1828800"/>
          </a:xfrm>
          <a:prstGeom prst="roundRect">
            <a:avLst>
              <a:gd name="adj" fmla="val 500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2" name="Pill"/>
          <p:cNvSpPr/>
          <p:nvPr/>
        </p:nvSpPr>
        <p:spPr>
          <a:xfrm>
            <a:off x="4892040" y="18288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18288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783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are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curta: you're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468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pPr indent="0" marL="0">
              <a:buNone/>
            </a:pPr>
            <a:r>
              <a:rPr lang="en-US" sz="17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Tom. You're a teacher.</a:t>
            </a:r>
            <a:endParaRPr lang="en-US" sz="1700" dirty="0"/>
          </a:p>
        </p:txBody>
      </p:sp>
      <p:sp>
        <p:nvSpPr>
          <p:cNvPr id="17" name="Card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65760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inglês, a frase sempre precisa de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sujeito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Não existe "Sou professor"; diga </a:t>
            </a:r>
            <a:pPr indent="0" marL="0">
              <a:buNone/>
            </a:pPr>
            <a:r>
              <a:rPr lang="en-US" sz="15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teacher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4 · GRAMMAR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NEGATIVES, QUESTIONS &amp; ANSWERS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2651760" cy="3337560"/>
          </a:xfrm>
          <a:prstGeom prst="roundRect">
            <a:avLst>
              <a:gd name="adj" fmla="val 3448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NEGATIVE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915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Coloque </a:t>
            </a:r>
            <a:pPr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depois do verbo.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175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not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Tom. → I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 not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Tom.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not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doctor. → You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aren't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doctor.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246120" y="1280160"/>
            <a:ext cx="2651760" cy="3337560"/>
          </a:xfrm>
          <a:prstGeom prst="roundRect">
            <a:avLst>
              <a:gd name="adj" fmla="val 3448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3429000" y="1417320"/>
            <a:ext cx="457200" cy="45720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5915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verbo vai para o começo.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0175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Brazilian. →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Brazilian?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6035040" y="1280160"/>
            <a:ext cx="2651760" cy="3337560"/>
          </a:xfrm>
          <a:prstGeom prst="roundRect">
            <a:avLst>
              <a:gd name="adj" fmla="val 3448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8" name="Badge"/>
          <p:cNvSpPr/>
          <p:nvPr/>
        </p:nvSpPr>
        <p:spPr>
          <a:xfrm>
            <a:off x="6217920" y="1417320"/>
            <a:ext cx="457200" cy="457200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SHORT ANSWER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5915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Responda com o verbo, sem repetir o resto.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0175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 student?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520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4023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I</a:t>
            </a:r>
            <a:pPr indent="0" marL="0">
              <a:buNone/>
            </a:pPr>
            <a:r>
              <a:rPr lang="en-US" sz="14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 not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4 · DICA BRASIL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OUT FOR THESE MISTAKES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8229600" cy="841248"/>
          </a:xfrm>
          <a:prstGeom prst="roundRect">
            <a:avLst>
              <a:gd name="adj" fmla="val 1087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trike="sngStrike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Ana.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280160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28016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Ana.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280160"/>
            <a:ext cx="2697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sujeito é obrigatório.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57200" y="2240280"/>
            <a:ext cx="8229600" cy="841248"/>
          </a:xfrm>
          <a:prstGeom prst="roundRect">
            <a:avLst>
              <a:gd name="adj" fmla="val 1087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24028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trike="sngStrike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I'm.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240280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24028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am.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240280"/>
            <a:ext cx="2697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resposta curta, não use a forma contraída.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457200" y="3200400"/>
            <a:ext cx="8229600" cy="841248"/>
          </a:xfrm>
          <a:prstGeom prst="roundRect">
            <a:avLst>
              <a:gd name="adj" fmla="val 1087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20040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trike="sngStrike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are from?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3200400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0040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you from?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200400"/>
            <a:ext cx="2697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perguntas, o verbo vem antes do sujeito.</a:t>
            </a:r>
            <a:endParaRPr lang="en-US" sz="1300" dirty="0"/>
          </a:p>
        </p:txBody>
      </p:sp>
      <p:sp>
        <p:nvSpPr>
          <p:cNvPr id="19" name="Culture corner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3A4E6B"/>
          </a:solidFill>
          <a:ln w="12700">
            <a:solidFill>
              <a:srgbClr val="3A4E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</a:t>
            </a:r>
            <a:pPr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Corner: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"How are you?" é só uma saudação. A resposta comum é </a:t>
            </a:r>
            <a:pPr indent="0" marL="0">
              <a:buNone/>
            </a:pPr>
            <a:r>
              <a:rPr lang="en-US" sz="1300" b="1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Fine, thanks. And you?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5 · EXERCISES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· COMPLETE THE GAPS</a:t>
            </a:r>
            <a:endParaRPr lang="en-US" sz="3000" dirty="0"/>
          </a:p>
        </p:txBody>
      </p:sp>
      <p:sp>
        <p:nvSpPr>
          <p:cNvPr id="4" name="Pill"/>
          <p:cNvSpPr/>
          <p:nvPr/>
        </p:nvSpPr>
        <p:spPr>
          <a:xfrm>
            <a:off x="457200" y="11887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1600200" y="11887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0020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300" dirty="0"/>
          </a:p>
        </p:txBody>
      </p:sp>
      <p:sp>
        <p:nvSpPr>
          <p:cNvPr id="8" name="Pill"/>
          <p:cNvSpPr/>
          <p:nvPr/>
        </p:nvSpPr>
        <p:spPr>
          <a:xfrm>
            <a:off x="2743200" y="11887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300" dirty="0"/>
          </a:p>
        </p:txBody>
      </p:sp>
      <p:sp>
        <p:nvSpPr>
          <p:cNvPr id="10" name="Pill"/>
          <p:cNvSpPr/>
          <p:nvPr/>
        </p:nvSpPr>
        <p:spPr>
          <a:xfrm>
            <a:off x="3886200" y="11887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8620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 not</a:t>
            </a:r>
            <a:endParaRPr lang="en-US" sz="1300" dirty="0"/>
          </a:p>
        </p:txBody>
      </p:sp>
      <p:sp>
        <p:nvSpPr>
          <p:cNvPr id="12" name="Pill"/>
          <p:cNvSpPr/>
          <p:nvPr/>
        </p:nvSpPr>
        <p:spPr>
          <a:xfrm>
            <a:off x="5029200" y="11887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aren't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457200" y="169164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5" name="Badge"/>
          <p:cNvSpPr/>
          <p:nvPr/>
        </p:nvSpPr>
        <p:spPr>
          <a:xfrm>
            <a:off x="594360" y="1892808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1691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I _____ Tom.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4663440" y="169164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9" name="Badge"/>
          <p:cNvSpPr/>
          <p:nvPr/>
        </p:nvSpPr>
        <p:spPr>
          <a:xfrm>
            <a:off x="4800600" y="1892808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1691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a teacher.</a:t>
            </a:r>
            <a:endParaRPr lang="en-US" sz="1500" dirty="0"/>
          </a:p>
        </p:txBody>
      </p:sp>
      <p:sp>
        <p:nvSpPr>
          <p:cNvPr id="22" name="Card"/>
          <p:cNvSpPr/>
          <p:nvPr/>
        </p:nvSpPr>
        <p:spPr>
          <a:xfrm>
            <a:off x="457200" y="265176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3" name="Badge"/>
          <p:cNvSpPr/>
          <p:nvPr/>
        </p:nvSpPr>
        <p:spPr>
          <a:xfrm>
            <a:off x="594360" y="2852928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852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you Brazilian?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4663440" y="265176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7" name="Badge"/>
          <p:cNvSpPr/>
          <p:nvPr/>
        </p:nvSpPr>
        <p:spPr>
          <a:xfrm>
            <a:off x="4800600" y="2852928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852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39496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_____.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457200" y="36118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1" name="Badge"/>
          <p:cNvSpPr/>
          <p:nvPr/>
        </p:nvSpPr>
        <p:spPr>
          <a:xfrm>
            <a:off x="594360" y="3813048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36118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_____ from Japan. (negative)</a:t>
            </a:r>
            <a:endParaRPr lang="en-US" sz="1500" dirty="0"/>
          </a:p>
        </p:txBody>
      </p:sp>
      <p:sp>
        <p:nvSpPr>
          <p:cNvPr id="34" name="Card"/>
          <p:cNvSpPr/>
          <p:nvPr/>
        </p:nvSpPr>
        <p:spPr>
          <a:xfrm>
            <a:off x="4663440" y="36118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5" name="Badge"/>
          <p:cNvSpPr/>
          <p:nvPr/>
        </p:nvSpPr>
        <p:spPr>
          <a:xfrm>
            <a:off x="4800600" y="3813048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0060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394960" y="36118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_____ American. (negative)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5 · EXERCISES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 · PUT THE WORDS IN ORDER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594360" y="147218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72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325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is / My / Ana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3258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Answer line"/>
          <p:cNvSpPr/>
          <p:nvPr/>
        </p:nvSpPr>
        <p:spPr>
          <a:xfrm>
            <a:off x="4937760" y="1453896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10" name="Card"/>
          <p:cNvSpPr/>
          <p:nvPr/>
        </p:nvSpPr>
        <p:spPr>
          <a:xfrm>
            <a:off x="457200" y="214884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594360" y="229514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295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1488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/ Are / Brazilian / 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14884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Answer line"/>
          <p:cNvSpPr/>
          <p:nvPr/>
        </p:nvSpPr>
        <p:spPr>
          <a:xfrm>
            <a:off x="4937760" y="2276856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16" name="Card"/>
          <p:cNvSpPr/>
          <p:nvPr/>
        </p:nvSpPr>
        <p:spPr>
          <a:xfrm>
            <a:off x="457200" y="297180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7" name="Badge"/>
          <p:cNvSpPr/>
          <p:nvPr/>
        </p:nvSpPr>
        <p:spPr>
          <a:xfrm>
            <a:off x="594360" y="311810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118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29718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/ I'm / Canada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480560" y="297180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Answer line"/>
          <p:cNvSpPr/>
          <p:nvPr/>
        </p:nvSpPr>
        <p:spPr>
          <a:xfrm>
            <a:off x="4937760" y="3099816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22" name="Card"/>
          <p:cNvSpPr/>
          <p:nvPr/>
        </p:nvSpPr>
        <p:spPr>
          <a:xfrm>
            <a:off x="457200" y="379476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3" name="Badge"/>
          <p:cNvSpPr/>
          <p:nvPr/>
        </p:nvSpPr>
        <p:spPr>
          <a:xfrm>
            <a:off x="594360" y="394106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7947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/ meet / Nice / you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379476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Answer line"/>
          <p:cNvSpPr/>
          <p:nvPr/>
        </p:nvSpPr>
        <p:spPr>
          <a:xfrm>
            <a:off x="4937760" y="3922776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5 · EXERCISES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 · REWRITE THE SENTENCES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594360" y="147218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72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32588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student.</a:t>
            </a:r>
            <a:endParaRPr lang="en-US" sz="1600" dirty="0"/>
          </a:p>
        </p:txBody>
      </p:sp>
      <p:sp>
        <p:nvSpPr>
          <p:cNvPr id="8" name="Pill"/>
          <p:cNvSpPr/>
          <p:nvPr/>
        </p:nvSpPr>
        <p:spPr>
          <a:xfrm>
            <a:off x="3931920" y="15270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15270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10" name="Answer line"/>
          <p:cNvSpPr/>
          <p:nvPr/>
        </p:nvSpPr>
        <p:spPr>
          <a:xfrm>
            <a:off x="5212080" y="1453896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11" name="Card"/>
          <p:cNvSpPr/>
          <p:nvPr/>
        </p:nvSpPr>
        <p:spPr>
          <a:xfrm>
            <a:off x="457200" y="214884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594360" y="229514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295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14884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doctor.</a:t>
            </a:r>
            <a:endParaRPr lang="en-US" sz="1600" dirty="0"/>
          </a:p>
        </p:txBody>
      </p:sp>
      <p:sp>
        <p:nvSpPr>
          <p:cNvPr id="15" name="Pill"/>
          <p:cNvSpPr/>
          <p:nvPr/>
        </p:nvSpPr>
        <p:spPr>
          <a:xfrm>
            <a:off x="3931920" y="235000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2350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00" dirty="0"/>
          </a:p>
        </p:txBody>
      </p:sp>
      <p:sp>
        <p:nvSpPr>
          <p:cNvPr id="17" name="Answer line"/>
          <p:cNvSpPr/>
          <p:nvPr/>
        </p:nvSpPr>
        <p:spPr>
          <a:xfrm>
            <a:off x="5212080" y="2276856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18" name="Card"/>
          <p:cNvSpPr/>
          <p:nvPr/>
        </p:nvSpPr>
        <p:spPr>
          <a:xfrm>
            <a:off x="457200" y="297180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9" name="Badge"/>
          <p:cNvSpPr/>
          <p:nvPr/>
        </p:nvSpPr>
        <p:spPr>
          <a:xfrm>
            <a:off x="594360" y="311810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97180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from Japan.</a:t>
            </a:r>
            <a:endParaRPr lang="en-US" sz="1600" dirty="0"/>
          </a:p>
        </p:txBody>
      </p:sp>
      <p:sp>
        <p:nvSpPr>
          <p:cNvPr id="22" name="Pill"/>
          <p:cNvSpPr/>
          <p:nvPr/>
        </p:nvSpPr>
        <p:spPr>
          <a:xfrm>
            <a:off x="3931920" y="317296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 w="12700">
            <a:solidFill>
              <a:srgbClr val="7CC4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317296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4" name="Answer line"/>
          <p:cNvSpPr/>
          <p:nvPr/>
        </p:nvSpPr>
        <p:spPr>
          <a:xfrm>
            <a:off x="5212080" y="3099816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25" name="Card"/>
          <p:cNvSpPr/>
          <p:nvPr/>
        </p:nvSpPr>
        <p:spPr>
          <a:xfrm>
            <a:off x="457200" y="379476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6" name="Badge"/>
          <p:cNvSpPr/>
          <p:nvPr/>
        </p:nvSpPr>
        <p:spPr>
          <a:xfrm>
            <a:off x="594360" y="3941064"/>
            <a:ext cx="420624" cy="420624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34440" y="379476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Tom.</a:t>
            </a:r>
            <a:endParaRPr lang="en-US" sz="1600" dirty="0"/>
          </a:p>
        </p:txBody>
      </p:sp>
      <p:sp>
        <p:nvSpPr>
          <p:cNvPr id="29" name="Pill"/>
          <p:cNvSpPr/>
          <p:nvPr/>
        </p:nvSpPr>
        <p:spPr>
          <a:xfrm>
            <a:off x="3931920" y="399592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31920" y="3995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00" dirty="0"/>
          </a:p>
        </p:txBody>
      </p:sp>
      <p:sp>
        <p:nvSpPr>
          <p:cNvPr id="31" name="Answer line"/>
          <p:cNvSpPr/>
          <p:nvPr/>
        </p:nvSpPr>
        <p:spPr>
          <a:xfrm>
            <a:off x="5212080" y="3922776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2700">
            <a:solidFill>
              <a:srgbClr val="A9B6C9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6 · SPEAKING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MEET A NEW CLASSMATE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duplas, faça um diálogo de 1 minuto. Use as frases ao lado.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1600200"/>
            <a:ext cx="5486400" cy="530352"/>
          </a:xfrm>
          <a:prstGeom prst="roundRect">
            <a:avLst>
              <a:gd name="adj" fmla="val 1724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" name="Badge"/>
          <p:cNvSpPr/>
          <p:nvPr/>
        </p:nvSpPr>
        <p:spPr>
          <a:xfrm>
            <a:off x="566928" y="1664208"/>
            <a:ext cx="402336" cy="402336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664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6002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GREET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60020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/ Good morning!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57200" y="2221992"/>
            <a:ext cx="5486400" cy="530352"/>
          </a:xfrm>
          <a:prstGeom prst="roundRect">
            <a:avLst>
              <a:gd name="adj" fmla="val 1724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219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ASK THE NAME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22199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name?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57200" y="2843784"/>
            <a:ext cx="5486400" cy="530352"/>
          </a:xfrm>
          <a:prstGeom prst="roundRect">
            <a:avLst>
              <a:gd name="adj" fmla="val 1724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566928" y="2907792"/>
            <a:ext cx="402336" cy="402336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8437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SPELL IT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843784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spell your name?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457200" y="3465576"/>
            <a:ext cx="5486400" cy="530352"/>
          </a:xfrm>
          <a:prstGeom prst="roundRect">
            <a:avLst>
              <a:gd name="adj" fmla="val 1724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1" name="Badge"/>
          <p:cNvSpPr/>
          <p:nvPr/>
        </p:nvSpPr>
        <p:spPr>
          <a:xfrm>
            <a:off x="566928" y="3529584"/>
            <a:ext cx="402336" cy="402336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4655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ASK ABOUT ORIGIN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346557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from …? / Where are you from?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57200" y="4087368"/>
            <a:ext cx="5486400" cy="530352"/>
          </a:xfrm>
          <a:prstGeom prst="roundRect">
            <a:avLst>
              <a:gd name="adj" fmla="val 1724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26" name="Badge"/>
          <p:cNvSpPr/>
          <p:nvPr/>
        </p:nvSpPr>
        <p:spPr>
          <a:xfrm>
            <a:off x="566928" y="4151376"/>
            <a:ext cx="402336" cy="402336"/>
          </a:xfrm>
          <a:prstGeom prst="ellipse">
            <a:avLst/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0873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GOODBYE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834640" y="4087368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you. See you later!</a:t>
            </a:r>
            <a:endParaRPr lang="en-US" sz="1400" dirty="0"/>
          </a:p>
        </p:txBody>
      </p:sp>
      <p:sp>
        <p:nvSpPr>
          <p:cNvPr id="30" name="Card"/>
          <p:cNvSpPr/>
          <p:nvPr/>
        </p:nvSpPr>
        <p:spPr>
          <a:xfrm>
            <a:off x="6126480" y="1600200"/>
            <a:ext cx="2560320" cy="3017520"/>
          </a:xfrm>
          <a:prstGeom prst="roundRect">
            <a:avLst>
              <a:gd name="adj" fmla="val 357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1737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2" name="Checkbox"/>
          <p:cNvSpPr/>
          <p:nvPr/>
        </p:nvSpPr>
        <p:spPr>
          <a:xfrm>
            <a:off x="6309360" y="21945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9050">
            <a:solidFill>
              <a:srgbClr val="FFCD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2084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 I'm / You're</a:t>
            </a:r>
            <a:endParaRPr lang="en-US" sz="1400" dirty="0"/>
          </a:p>
        </p:txBody>
      </p:sp>
      <p:sp>
        <p:nvSpPr>
          <p:cNvPr id="34" name="Checkbox"/>
          <p:cNvSpPr/>
          <p:nvPr/>
        </p:nvSpPr>
        <p:spPr>
          <a:xfrm>
            <a:off x="6309360" y="276148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9050">
            <a:solidFill>
              <a:srgbClr val="FFCD0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720840" y="27157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 uma pergunta</a:t>
            </a:r>
            <a:endParaRPr lang="en-US" sz="1400" dirty="0"/>
          </a:p>
        </p:txBody>
      </p:sp>
      <p:sp>
        <p:nvSpPr>
          <p:cNvPr id="36" name="Checkbox"/>
          <p:cNvSpPr/>
          <p:nvPr/>
        </p:nvSpPr>
        <p:spPr>
          <a:xfrm>
            <a:off x="6309360" y="332841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9050">
            <a:solidFill>
              <a:srgbClr val="FFCD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720840" y="328269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Soletrei meu nome</a:t>
            </a:r>
            <a:endParaRPr lang="en-US" sz="1400" dirty="0"/>
          </a:p>
        </p:txBody>
      </p:sp>
      <p:sp>
        <p:nvSpPr>
          <p:cNvPr id="38" name="Checkbox"/>
          <p:cNvSpPr/>
          <p:nvPr/>
        </p:nvSpPr>
        <p:spPr>
          <a:xfrm>
            <a:off x="6309360" y="389534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01737"/>
          </a:solidFill>
          <a:ln w="19050">
            <a:solidFill>
              <a:srgbClr val="FFCD0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20840" y="384962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Falei devagar e claro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6 · WRITING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MY INTRODUCTION CARD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 cartão com seus dados (30 a 40 palavras).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1645920"/>
            <a:ext cx="8229600" cy="2926080"/>
          </a:xfrm>
          <a:prstGeom prst="roundRect">
            <a:avLst>
              <a:gd name="adj" fmla="val 3125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My name is _____________.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from ______________. I'm ______________. (nationality)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a ______________.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WRAP-UP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CAN YOU DO IT?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5120640" cy="3337560"/>
          </a:xfrm>
          <a:prstGeom prst="roundRect">
            <a:avLst>
              <a:gd name="adj" fmla="val 2740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Cumprimentar (Hello, Good morning)</a:t>
            </a:r>
            <a:endParaRPr lang="en-US" sz="1400" dirty="0"/>
          </a:p>
        </p:txBody>
      </p:sp>
      <p:sp>
        <p:nvSpPr>
          <p:cNvPr id="6" name="Pill"/>
          <p:cNvSpPr/>
          <p:nvPr/>
        </p:nvSpPr>
        <p:spPr>
          <a:xfrm>
            <a:off x="3840480" y="157276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0" y="15727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4389120" y="157276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9120" y="15727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0" name="Pill"/>
          <p:cNvSpPr/>
          <p:nvPr/>
        </p:nvSpPr>
        <p:spPr>
          <a:xfrm>
            <a:off x="4937760" y="157276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08A80"/>
          </a:solidFill>
          <a:ln w="12700">
            <a:solidFill>
              <a:srgbClr val="F08A8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37760" y="15727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e perguntar o nome</a:t>
            </a:r>
            <a:endParaRPr lang="en-US" sz="1400" dirty="0"/>
          </a:p>
        </p:txBody>
      </p:sp>
      <p:sp>
        <p:nvSpPr>
          <p:cNvPr id="13" name="Pill"/>
          <p:cNvSpPr/>
          <p:nvPr/>
        </p:nvSpPr>
        <p:spPr>
          <a:xfrm>
            <a:off x="3840480" y="230428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0" y="23042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4389120" y="230428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3042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7" name="Pill"/>
          <p:cNvSpPr/>
          <p:nvPr/>
        </p:nvSpPr>
        <p:spPr>
          <a:xfrm>
            <a:off x="4937760" y="230428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08A80"/>
          </a:solidFill>
          <a:ln w="12700">
            <a:solidFill>
              <a:srgbClr val="F08A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37760" y="23042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2926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de onde sou e o que faço</a:t>
            </a:r>
            <a:endParaRPr lang="en-US" sz="1400" dirty="0"/>
          </a:p>
        </p:txBody>
      </p:sp>
      <p:sp>
        <p:nvSpPr>
          <p:cNvPr id="20" name="Pill"/>
          <p:cNvSpPr/>
          <p:nvPr/>
        </p:nvSpPr>
        <p:spPr>
          <a:xfrm>
            <a:off x="3840480" y="303580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0" y="303580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4389120" y="303580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89120" y="303580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24" name="Pill"/>
          <p:cNvSpPr/>
          <p:nvPr/>
        </p:nvSpPr>
        <p:spPr>
          <a:xfrm>
            <a:off x="4937760" y="303580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08A80"/>
          </a:solidFill>
          <a:ln w="12700">
            <a:solidFill>
              <a:srgbClr val="F08A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37760" y="303580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3657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Soletrar meu nome</a:t>
            </a:r>
            <a:endParaRPr lang="en-US" sz="1400" dirty="0"/>
          </a:p>
        </p:txBody>
      </p:sp>
      <p:sp>
        <p:nvSpPr>
          <p:cNvPr id="27" name="Pill"/>
          <p:cNvSpPr/>
          <p:nvPr/>
        </p:nvSpPr>
        <p:spPr>
          <a:xfrm>
            <a:off x="3840480" y="376732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7EE0B8"/>
          </a:solidFill>
          <a:ln w="12700">
            <a:solidFill>
              <a:srgbClr val="7EE0B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0" y="37673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4389120" y="376732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389120" y="37673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1" name="Pill"/>
          <p:cNvSpPr/>
          <p:nvPr/>
        </p:nvSpPr>
        <p:spPr>
          <a:xfrm>
            <a:off x="4937760" y="3767328"/>
            <a:ext cx="457200" cy="329184"/>
          </a:xfrm>
          <a:prstGeom prst="roundRect">
            <a:avLst>
              <a:gd name="adj" fmla="val 50000"/>
            </a:avLst>
          </a:prstGeom>
          <a:solidFill>
            <a:srgbClr val="F08A80"/>
          </a:solidFill>
          <a:ln w="12700">
            <a:solidFill>
              <a:srgbClr val="F08A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37760" y="37673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7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3" name="Card"/>
          <p:cNvSpPr/>
          <p:nvPr/>
        </p:nvSpPr>
        <p:spPr>
          <a:xfrm>
            <a:off x="5760720" y="1280160"/>
            <a:ext cx="2926080" cy="1920240"/>
          </a:xfrm>
          <a:prstGeom prst="roundRect">
            <a:avLst>
              <a:gd name="adj" fmla="val 4762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360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I LEARNED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178308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as 3 palavras que você mais gostou: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__________</a:t>
            </a:r>
            <a:endParaRPr lang="en-US" sz="1400" dirty="0"/>
          </a:p>
        </p:txBody>
      </p:sp>
      <p:sp>
        <p:nvSpPr>
          <p:cNvPr id="36" name="Next"/>
          <p:cNvSpPr/>
          <p:nvPr/>
        </p:nvSpPr>
        <p:spPr>
          <a:xfrm>
            <a:off x="5760720" y="3383280"/>
            <a:ext cx="2926080" cy="1234440"/>
          </a:xfrm>
          <a:prstGeom prst="roundRect">
            <a:avLst>
              <a:gd name="adj" fmla="val 7407"/>
            </a:avLst>
          </a:prstGeom>
          <a:solidFill>
            <a:srgbClr val="FFCD04"/>
          </a:solidFill>
          <a:ln w="12700">
            <a:solidFill>
              <a:srgbClr val="FFCD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943600" y="338328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NEXT: UNIT 2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173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Where are you from?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ANSWER KEY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TRUE OR FALSE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1280160"/>
            <a:ext cx="6035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 · 2 T · 3 T · 4 F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210312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1031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· GAPS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103120"/>
            <a:ext cx="6035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am · 2 are · 3 Are · 4 am · 5 'm not · 6 aren't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57200" y="292608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2608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 · ORDER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926080"/>
            <a:ext cx="6035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name is Ana. / Are you Brazilian? / I'm from Canada. / Nice to meet you.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3749040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243853"/>
          </a:solidFill>
          <a:ln w="12700">
            <a:solidFill>
              <a:srgbClr val="24385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74904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4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 · REWRITE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3749040"/>
            <a:ext cx="6035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 student? / I'm not a doctor. / Are you from Japan? / You aren't (You're not) Tom.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6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The English Skyrocket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Raul Pivoto</dc:creator>
  <cp:lastModifiedBy>Raul Pivoto</cp:lastModifiedBy>
  <cp:revision>1</cp:revision>
  <dcterms:created xsi:type="dcterms:W3CDTF">2026-10-09T12:09:03Z</dcterms:created>
  <dcterms:modified xsi:type="dcterms:W3CDTF">2026-10-09T12:09:03Z</dcterms:modified>
</cp:coreProperties>
</file>